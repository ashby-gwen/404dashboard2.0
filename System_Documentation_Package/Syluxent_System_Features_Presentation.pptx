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2892814-CD17-447E-A3AF-2169A2537C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89952A-DFD4-46FC-8C9F-EB76A8B3F7F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FB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B9FF"/>
                </a:solidFill>
                <a:latin typeface="Aptos"/>
                <a:ea typeface="Aptos"/>
                <a:cs typeface="Aptos"/>
              </a:rPr>
              <a:t>SYLUXENT ERP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661ACB-80D6-49A1-B6C2-88DB090ABD35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7239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 Overview and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66774-E9C7-495D-9D7F-A4DE353E5EA5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6572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9E6F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6F7"/>
                </a:solidFill>
                <a:latin typeface="Aptos"/>
                <a:ea typeface="Aptos"/>
                <a:cs typeface="Aptos"/>
              </a:rPr>
              <a:t>A capstone-ready operating system for sales, invoicing, expenses, analytics, administration, and cloud-backed data persistence.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CF8B1-F016-4E9C-BAE1-BA0022CE16FB}"/>
              </a:ext>
            </a:extLst>
          </p:cNvPr>
          <p:cNvSpPr>
            <a:spLocks noGrp="1"/>
          </p:cNvSpPr>
          <p:nvPr/>
        </p:nvSpPr>
        <p:spPr>
          <a:xfrm>
            <a:off x="7524750" y="1238250"/>
            <a:ext cx="3429000" cy="914400"/>
          </a:xfrm>
          <a:prstGeom prst="rect">
            <a:avLst/>
          </a:prstGeom>
          <a:solidFill>
            <a:srgbClr val="102F5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6054DB-EDF4-44FF-B73F-4A3DA8B8792F}"/>
              </a:ext>
            </a:extLst>
          </p:cNvPr>
          <p:cNvSpPr>
            <a:spLocks noGrp="1"/>
          </p:cNvSpPr>
          <p:nvPr/>
        </p:nvSpPr>
        <p:spPr>
          <a:xfrm>
            <a:off x="7524750" y="1238250"/>
            <a:ext cx="47625" cy="91440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1D73CE-B8A0-4381-B72C-8B9E88974B7D}"/>
              </a:ext>
            </a:extLst>
          </p:cNvPr>
          <p:cNvSpPr>
            <a:spLocks noGrp="1"/>
          </p:cNvSpPr>
          <p:nvPr/>
        </p:nvSpPr>
        <p:spPr>
          <a:xfrm>
            <a:off x="7696200" y="13716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chemeClr val="bg1">
                    <a:lumMod val="95000"/>
                  </a:schemeClr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14E334-8F98-42FD-9181-5089509E76A9}"/>
              </a:ext>
            </a:extLst>
          </p:cNvPr>
          <p:cNvSpPr>
            <a:spLocks noGrp="1"/>
          </p:cNvSpPr>
          <p:nvPr/>
        </p:nvSpPr>
        <p:spPr>
          <a:xfrm>
            <a:off x="7696200" y="16954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chemeClr val="bg1">
                    <a:lumMod val="85000"/>
                  </a:schemeClr>
                </a:solidFill>
                <a:latin typeface="Aptos"/>
                <a:ea typeface="Aptos"/>
                <a:cs typeface="Aptos"/>
              </a:rPr>
              <a:t>Flask on Render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chemeClr val="bg1">
                    <a:lumMod val="85000"/>
                  </a:schemeClr>
                </a:solidFill>
                <a:latin typeface="Aptos"/>
                <a:ea typeface="Aptos"/>
                <a:cs typeface="Aptos"/>
              </a:rPr>
              <a:t>Gunicorn</a:t>
            </a:r>
            <a:r>
              <a:rPr sz="1050" b="0" dirty="0">
                <a:solidFill>
                  <a:schemeClr val="bg1">
                    <a:lumMod val="85000"/>
                  </a:schemeClr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chemeClr val="bg1">
                    <a:lumMod val="85000"/>
                  </a:schemeClr>
                </a:solidFill>
                <a:latin typeface="Aptos"/>
                <a:ea typeface="Aptos"/>
                <a:cs typeface="Aptos"/>
              </a:rPr>
              <a:t>app:app</a:t>
            </a:r>
            <a:endParaRPr sz="1050" b="0" dirty="0">
              <a:solidFill>
                <a:schemeClr val="bg1">
                  <a:lumMod val="85000"/>
                </a:scheme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CB238-BEAA-4151-B2A8-D72E82E365DC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3429000" cy="914400"/>
          </a:xfrm>
          <a:prstGeom prst="rect">
            <a:avLst/>
          </a:prstGeom>
          <a:solidFill>
            <a:srgbClr val="102F5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85FA04-8050-4DA8-8748-9669D42B22B0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47625" cy="91440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CF9A66-A0D3-4484-BA3D-8093EA1C34D4}"/>
              </a:ext>
            </a:extLst>
          </p:cNvPr>
          <p:cNvSpPr>
            <a:spLocks noGrp="1"/>
          </p:cNvSpPr>
          <p:nvPr/>
        </p:nvSpPr>
        <p:spPr>
          <a:xfrm>
            <a:off x="7696200" y="25146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chemeClr val="bg1">
                    <a:lumMod val="95000"/>
                  </a:schemeClr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C7F6B6-44E8-4A35-824E-4659BC71994C}"/>
              </a:ext>
            </a:extLst>
          </p:cNvPr>
          <p:cNvSpPr>
            <a:spLocks noGrp="1"/>
          </p:cNvSpPr>
          <p:nvPr/>
        </p:nvSpPr>
        <p:spPr>
          <a:xfrm>
            <a:off x="7696200" y="28384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chemeClr val="bg1">
                    <a:lumMod val="85000"/>
                  </a:schemeClr>
                </a:solidFill>
                <a:latin typeface="Aptos"/>
                <a:ea typeface="Aptos"/>
                <a:cs typeface="Aptos"/>
              </a:rPr>
              <a:t>Supabase Postgres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chemeClr val="bg1">
                    <a:lumMod val="85000"/>
                  </a:schemeClr>
                </a:solidFill>
                <a:latin typeface="Aptos"/>
                <a:ea typeface="Aptos"/>
                <a:cs typeface="Aptos"/>
              </a:rPr>
              <a:t>SQLAlchemy + psycopg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73D8C-53C6-404E-9569-EF52B438DFE9}"/>
              </a:ext>
            </a:extLst>
          </p:cNvPr>
          <p:cNvSpPr>
            <a:spLocks noGrp="1"/>
          </p:cNvSpPr>
          <p:nvPr/>
        </p:nvSpPr>
        <p:spPr>
          <a:xfrm>
            <a:off x="7524750" y="3524250"/>
            <a:ext cx="3429000" cy="914400"/>
          </a:xfrm>
          <a:prstGeom prst="rect">
            <a:avLst/>
          </a:prstGeom>
          <a:solidFill>
            <a:srgbClr val="102F5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F4CAA0-D98B-4FF5-962F-31A6C48E6FE6}"/>
              </a:ext>
            </a:extLst>
          </p:cNvPr>
          <p:cNvSpPr>
            <a:spLocks noGrp="1"/>
          </p:cNvSpPr>
          <p:nvPr/>
        </p:nvSpPr>
        <p:spPr>
          <a:xfrm>
            <a:off x="7524750" y="3524250"/>
            <a:ext cx="47625" cy="914400"/>
          </a:xfrm>
          <a:prstGeom prst="rect">
            <a:avLst/>
          </a:prstGeom>
          <a:solidFill>
            <a:srgbClr val="FBBF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189CDB-D0D2-4DE6-9694-C93D656573F6}"/>
              </a:ext>
            </a:extLst>
          </p:cNvPr>
          <p:cNvSpPr>
            <a:spLocks noGrp="1"/>
          </p:cNvSpPr>
          <p:nvPr/>
        </p:nvSpPr>
        <p:spPr>
          <a:xfrm>
            <a:off x="7696200" y="36576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chemeClr val="bg1">
                    <a:lumMod val="95000"/>
                  </a:schemeClr>
                </a:solidFill>
                <a:latin typeface="Aptos"/>
                <a:ea typeface="Aptos"/>
                <a:cs typeface="Aptos"/>
              </a:rPr>
              <a:t>Source control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389A7C-9D54-46E5-8DE6-D586A7297A56}"/>
              </a:ext>
            </a:extLst>
          </p:cNvPr>
          <p:cNvSpPr>
            <a:spLocks noGrp="1"/>
          </p:cNvSpPr>
          <p:nvPr/>
        </p:nvSpPr>
        <p:spPr>
          <a:xfrm>
            <a:off x="7696200" y="39814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chemeClr val="bg1">
                    <a:lumMod val="85000"/>
                  </a:schemeClr>
                </a:solidFill>
                <a:latin typeface="Aptos"/>
                <a:ea typeface="Aptos"/>
                <a:cs typeface="Aptos"/>
              </a:rPr>
              <a:t>GitHub main branch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chemeClr val="bg1">
                    <a:lumMod val="85000"/>
                  </a:schemeClr>
                </a:solidFill>
                <a:latin typeface="Aptos"/>
                <a:ea typeface="Aptos"/>
                <a:cs typeface="Aptos"/>
              </a:rPr>
              <a:t>Ashby-Gwen/404Dashboard2.0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AD1CB8-0483-4DCB-A7D0-CCDA6561E030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504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7B8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8CE"/>
                </a:solidFill>
                <a:latin typeface="Aptos"/>
                <a:ea typeface="Aptos"/>
                <a:cs typeface="Aptos"/>
              </a:rPr>
              <a:t>Prepared for capstone panel review</a:t>
            </a:r>
          </a:p>
        </p:txBody>
      </p:sp>
    </p:spTree>
    <p:extLst>
      <p:ext uri="{BB962C8B-B14F-4D97-AF65-F5344CB8AC3E}">
        <p14:creationId xmlns:p14="http://schemas.microsoft.com/office/powerpoint/2010/main" val="145192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003686C-3336-483A-A9B3-B155A94354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6C5EA0-D3C8-4D4F-AA5A-E42C243DC9C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A17BCA-E7A1-4B5D-B861-A698B971225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Syluxent connects daily operations with analytics and control.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766D57-C937-4658-87F6-01751B569ED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DD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CBF78C-8D80-4FAD-8F07-4B81D3D9E8C4}"/>
              </a:ext>
            </a:extLst>
          </p:cNvPr>
          <p:cNvSpPr>
            <a:spLocks noGrp="1"/>
          </p:cNvSpPr>
          <p:nvPr/>
        </p:nvSpPr>
        <p:spPr>
          <a:xfrm>
            <a:off x="10668000" y="63055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8E2D7-D1B6-4F0B-85A5-09EF46EFA256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476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Business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DEBF38-8E68-415D-BE4E-1373A20AD178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0F5767-CFCB-4529-B5A7-E4CF343609DE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4476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Sales orders, invoices, clients, and expenses need one record system.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89EB0D-472F-4EF2-8EFF-4266D028F6F5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8396C-F83B-4EE6-90CB-643FCE96923F}"/>
              </a:ext>
            </a:extLst>
          </p:cNvPr>
          <p:cNvSpPr>
            <a:spLocks noGrp="1"/>
          </p:cNvSpPr>
          <p:nvPr/>
        </p:nvSpPr>
        <p:spPr>
          <a:xfrm>
            <a:off x="990600" y="2743200"/>
            <a:ext cx="4476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Managers need current revenue, cashflow, and client insights.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743714-1CF7-4EE9-ABBC-B1861B46380D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D28AA1-4ABC-45FB-804C-AF885AB06DF7}"/>
              </a:ext>
            </a:extLst>
          </p:cNvPr>
          <p:cNvSpPr>
            <a:spLocks noGrp="1"/>
          </p:cNvSpPr>
          <p:nvPr/>
        </p:nvSpPr>
        <p:spPr>
          <a:xfrm>
            <a:off x="990600" y="3105150"/>
            <a:ext cx="4476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Admins need controlled user, schema, export, and audit tools.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B0E1D7-C509-4BE9-8E97-4E2D5B228CC4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86759A-59DF-4E86-86EC-ED85EE0C15B0}"/>
              </a:ext>
            </a:extLst>
          </p:cNvPr>
          <p:cNvSpPr>
            <a:spLocks noGrp="1"/>
          </p:cNvSpPr>
          <p:nvPr/>
        </p:nvSpPr>
        <p:spPr>
          <a:xfrm>
            <a:off x="990600" y="3467100"/>
            <a:ext cx="4476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Deployment needs cloud persistence instead of local-only data.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2CE786-0488-4AF5-B2C8-5A556823E9EA}"/>
              </a:ext>
            </a:extLst>
          </p:cNvPr>
          <p:cNvSpPr>
            <a:spLocks noGrp="1"/>
          </p:cNvSpPr>
          <p:nvPr/>
        </p:nvSpPr>
        <p:spPr>
          <a:xfrm>
            <a:off x="6667500" y="1714500"/>
            <a:ext cx="409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System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CDD7D-312A-4CB7-BA93-C73CF5924716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4000500" cy="895350"/>
          </a:xfrm>
          <a:prstGeom prst="rect">
            <a:avLst/>
          </a:prstGeom>
          <a:solidFill>
            <a:srgbClr val="EAF2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45E912-50ED-4BA7-AE20-7AF7D6012BBE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47625" cy="895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B70820-399D-44AA-90DC-D4441F13F1EB}"/>
              </a:ext>
            </a:extLst>
          </p:cNvPr>
          <p:cNvSpPr>
            <a:spLocks noGrp="1"/>
          </p:cNvSpPr>
          <p:nvPr/>
        </p:nvSpPr>
        <p:spPr>
          <a:xfrm>
            <a:off x="6838950" y="25146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Unified ERP workflow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68829D-60FD-40FB-BF44-AE8430961611}"/>
              </a:ext>
            </a:extLst>
          </p:cNvPr>
          <p:cNvSpPr>
            <a:spLocks noGrp="1"/>
          </p:cNvSpPr>
          <p:nvPr/>
        </p:nvSpPr>
        <p:spPr>
          <a:xfrm>
            <a:off x="6838950" y="2838450"/>
            <a:ext cx="3676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One web app covers sales, invoices, expenses, reports, analytics, and admin operations.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D22086-2FA1-4949-8C81-BFB5779EC790}"/>
              </a:ext>
            </a:extLst>
          </p:cNvPr>
          <p:cNvSpPr>
            <a:spLocks noGrp="1"/>
          </p:cNvSpPr>
          <p:nvPr/>
        </p:nvSpPr>
        <p:spPr>
          <a:xfrm>
            <a:off x="6667500" y="3505200"/>
            <a:ext cx="4000500" cy="895350"/>
          </a:xfrm>
          <a:prstGeom prst="rect">
            <a:avLst/>
          </a:prstGeom>
          <a:solidFill>
            <a:srgbClr val="E8F5F2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96D767-ED30-497F-B994-38F8DDFEE3D5}"/>
              </a:ext>
            </a:extLst>
          </p:cNvPr>
          <p:cNvSpPr>
            <a:spLocks noGrp="1"/>
          </p:cNvSpPr>
          <p:nvPr/>
        </p:nvSpPr>
        <p:spPr>
          <a:xfrm>
            <a:off x="6667500" y="3505200"/>
            <a:ext cx="47625" cy="8953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30AA4C-1B42-4C3F-AF39-99FB57915309}"/>
              </a:ext>
            </a:extLst>
          </p:cNvPr>
          <p:cNvSpPr>
            <a:spLocks noGrp="1"/>
          </p:cNvSpPr>
          <p:nvPr/>
        </p:nvSpPr>
        <p:spPr>
          <a:xfrm>
            <a:off x="6838950" y="36385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Cloud-backed records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F62C79-3B73-48D1-A31F-E351C6AAE76D}"/>
              </a:ext>
            </a:extLst>
          </p:cNvPr>
          <p:cNvSpPr>
            <a:spLocks noGrp="1"/>
          </p:cNvSpPr>
          <p:nvPr/>
        </p:nvSpPr>
        <p:spPr>
          <a:xfrm>
            <a:off x="6838950" y="3962400"/>
            <a:ext cx="3676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Supabase Postgres keeps operational data persistent across Render deploys.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F4D84E-4948-4373-9814-0FE1973E790C}"/>
              </a:ext>
            </a:extLst>
          </p:cNvPr>
          <p:cNvSpPr>
            <a:spLocks noGrp="1"/>
          </p:cNvSpPr>
          <p:nvPr/>
        </p:nvSpPr>
        <p:spPr>
          <a:xfrm>
            <a:off x="6667500" y="4629150"/>
            <a:ext cx="4000500" cy="895350"/>
          </a:xfrm>
          <a:prstGeom prst="rect">
            <a:avLst/>
          </a:prstGeom>
          <a:solidFill>
            <a:srgbClr val="FFF4E5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55CD70-BCFF-416F-9073-54DD177DF420}"/>
              </a:ext>
            </a:extLst>
          </p:cNvPr>
          <p:cNvSpPr>
            <a:spLocks noGrp="1"/>
          </p:cNvSpPr>
          <p:nvPr/>
        </p:nvSpPr>
        <p:spPr>
          <a:xfrm>
            <a:off x="6667500" y="4629150"/>
            <a:ext cx="47625" cy="8953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792E38-F4ED-435D-AE49-3058A764AAB6}"/>
              </a:ext>
            </a:extLst>
          </p:cNvPr>
          <p:cNvSpPr>
            <a:spLocks noGrp="1"/>
          </p:cNvSpPr>
          <p:nvPr/>
        </p:nvSpPr>
        <p:spPr>
          <a:xfrm>
            <a:off x="6838950" y="47625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Capstone-ready evidence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1A84CB-05A6-454C-A700-E4066B2B0F84}"/>
              </a:ext>
            </a:extLst>
          </p:cNvPr>
          <p:cNvSpPr>
            <a:spLocks noGrp="1"/>
          </p:cNvSpPr>
          <p:nvPr/>
        </p:nvSpPr>
        <p:spPr>
          <a:xfrm>
            <a:off x="6838950" y="5086350"/>
            <a:ext cx="3676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Architecture is traceable from UI screens to routes, services, models, and deployment.</a:t>
            </a:r>
          </a:p>
        </p:txBody>
      </p:sp>
    </p:spTree>
    <p:extLst>
      <p:ext uri="{BB962C8B-B14F-4D97-AF65-F5344CB8AC3E}">
        <p14:creationId xmlns:p14="http://schemas.microsoft.com/office/powerpoint/2010/main" val="230744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26E55963-7CBB-48A5-B949-58F7A01991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C97B78-2E4A-4BAD-853D-13F4853F3D8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51B2ED-1599-445A-BC0C-C034158D968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simple web stack carries requests from browser to Supabase.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6A3C2B-20C4-41AC-93D2-1FEF1A4894CD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DD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2C388C-AA85-4A56-97B7-E0FE035D17A7}"/>
              </a:ext>
            </a:extLst>
          </p:cNvPr>
          <p:cNvSpPr>
            <a:spLocks noGrp="1"/>
          </p:cNvSpPr>
          <p:nvPr/>
        </p:nvSpPr>
        <p:spPr>
          <a:xfrm>
            <a:off x="10668000" y="63055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1B112E-D55B-4F55-B360-FD2605F21C05}"/>
              </a:ext>
            </a:extLst>
          </p:cNvPr>
          <p:cNvSpPr>
            <a:spLocks noGrp="1"/>
          </p:cNvSpPr>
          <p:nvPr/>
        </p:nvSpPr>
        <p:spPr>
          <a:xfrm>
            <a:off x="704850" y="2047875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95AE29-03EF-4314-9A3F-641289832DD3}"/>
              </a:ext>
            </a:extLst>
          </p:cNvPr>
          <p:cNvSpPr>
            <a:spLocks noGrp="1"/>
          </p:cNvSpPr>
          <p:nvPr/>
        </p:nvSpPr>
        <p:spPr>
          <a:xfrm>
            <a:off x="704850" y="2047875"/>
            <a:ext cx="47625" cy="1143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3B21C3-334A-4F3B-8228-32EEBDBD6CF0}"/>
              </a:ext>
            </a:extLst>
          </p:cNvPr>
          <p:cNvSpPr>
            <a:spLocks noGrp="1"/>
          </p:cNvSpPr>
          <p:nvPr/>
        </p:nvSpPr>
        <p:spPr>
          <a:xfrm>
            <a:off x="876300" y="2181225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Browser UI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37A5DC-77B4-4BC9-8318-060CBAE2CE60}"/>
              </a:ext>
            </a:extLst>
          </p:cNvPr>
          <p:cNvSpPr>
            <a:spLocks noGrp="1"/>
          </p:cNvSpPr>
          <p:nvPr/>
        </p:nvSpPr>
        <p:spPr>
          <a:xfrm>
            <a:off x="876300" y="2505075"/>
            <a:ext cx="1866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Templates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CSS theme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JavaScript helpers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87B348-CE9F-4C6D-BBFD-E95BBAF6131F}"/>
              </a:ext>
            </a:extLst>
          </p:cNvPr>
          <p:cNvSpPr>
            <a:spLocks noGrp="1"/>
          </p:cNvSpPr>
          <p:nvPr/>
        </p:nvSpPr>
        <p:spPr>
          <a:xfrm>
            <a:off x="3619500" y="2047875"/>
            <a:ext cx="2381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7DECA-B485-4CB9-AD48-361A51B09571}"/>
              </a:ext>
            </a:extLst>
          </p:cNvPr>
          <p:cNvSpPr>
            <a:spLocks noGrp="1"/>
          </p:cNvSpPr>
          <p:nvPr/>
        </p:nvSpPr>
        <p:spPr>
          <a:xfrm>
            <a:off x="3619500" y="2047875"/>
            <a:ext cx="47625" cy="1143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1A4BB7-B9D8-4B2B-8FEC-F624C9C16727}"/>
              </a:ext>
            </a:extLst>
          </p:cNvPr>
          <p:cNvSpPr>
            <a:spLocks noGrp="1"/>
          </p:cNvSpPr>
          <p:nvPr/>
        </p:nvSpPr>
        <p:spPr>
          <a:xfrm>
            <a:off x="3790950" y="218122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 routes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A76CCB-CEC6-4AEB-8310-38790B9FE0E2}"/>
              </a:ext>
            </a:extLst>
          </p:cNvPr>
          <p:cNvSpPr>
            <a:spLocks noGrp="1"/>
          </p:cNvSpPr>
          <p:nvPr/>
        </p:nvSpPr>
        <p:spPr>
          <a:xfrm>
            <a:off x="3790950" y="2505075"/>
            <a:ext cx="20574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Sessions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Role checks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HTML + JSON APIs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68249E-535C-4FC8-9753-49B0B3E3954B}"/>
              </a:ext>
            </a:extLst>
          </p:cNvPr>
          <p:cNvSpPr>
            <a:spLocks noGrp="1"/>
          </p:cNvSpPr>
          <p:nvPr/>
        </p:nvSpPr>
        <p:spPr>
          <a:xfrm>
            <a:off x="6762750" y="2047875"/>
            <a:ext cx="2381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4E2D12-EDE6-4658-9CB5-140637AEFBDF}"/>
              </a:ext>
            </a:extLst>
          </p:cNvPr>
          <p:cNvSpPr>
            <a:spLocks noGrp="1"/>
          </p:cNvSpPr>
          <p:nvPr/>
        </p:nvSpPr>
        <p:spPr>
          <a:xfrm>
            <a:off x="6762750" y="2047875"/>
            <a:ext cx="47625" cy="1143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49C053-6BBF-4BC4-A38D-6BF9DD1F5041}"/>
              </a:ext>
            </a:extLst>
          </p:cNvPr>
          <p:cNvSpPr>
            <a:spLocks noGrp="1"/>
          </p:cNvSpPr>
          <p:nvPr/>
        </p:nvSpPr>
        <p:spPr>
          <a:xfrm>
            <a:off x="6934200" y="2181225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Services + ORM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925910-51C6-4885-A8A1-D3E1AF242C1C}"/>
              </a:ext>
            </a:extLst>
          </p:cNvPr>
          <p:cNvSpPr>
            <a:spLocks noGrp="1"/>
          </p:cNvSpPr>
          <p:nvPr/>
        </p:nvSpPr>
        <p:spPr>
          <a:xfrm>
            <a:off x="6934200" y="2505075"/>
            <a:ext cx="20574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analytics_services.py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admin_services.py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SQLAlchemy models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74F8A9-4FAE-4DB2-8463-29A4F72482CB}"/>
              </a:ext>
            </a:extLst>
          </p:cNvPr>
          <p:cNvSpPr>
            <a:spLocks noGrp="1"/>
          </p:cNvSpPr>
          <p:nvPr/>
        </p:nvSpPr>
        <p:spPr>
          <a:xfrm>
            <a:off x="9810750" y="2047875"/>
            <a:ext cx="1714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A8D8D8-F95E-4C59-9FE2-BB66537F4E8F}"/>
              </a:ext>
            </a:extLst>
          </p:cNvPr>
          <p:cNvSpPr>
            <a:spLocks noGrp="1"/>
          </p:cNvSpPr>
          <p:nvPr/>
        </p:nvSpPr>
        <p:spPr>
          <a:xfrm>
            <a:off x="9810750" y="2047875"/>
            <a:ext cx="47625" cy="1143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2FC7FE-6F81-4AA5-9D19-AAE8B5D585E9}"/>
              </a:ext>
            </a:extLst>
          </p:cNvPr>
          <p:cNvSpPr>
            <a:spLocks noGrp="1"/>
          </p:cNvSpPr>
          <p:nvPr/>
        </p:nvSpPr>
        <p:spPr>
          <a:xfrm>
            <a:off x="9982200" y="2181225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449E7E-30CF-4B45-937D-21A97DD09C72}"/>
              </a:ext>
            </a:extLst>
          </p:cNvPr>
          <p:cNvSpPr>
            <a:spLocks noGrp="1"/>
          </p:cNvSpPr>
          <p:nvPr/>
        </p:nvSpPr>
        <p:spPr>
          <a:xfrm>
            <a:off x="9982200" y="2505075"/>
            <a:ext cx="1390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Postgres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Persistent data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5B213-5E03-45CA-8ABF-BCBD352EBB3C}"/>
              </a:ext>
            </a:extLst>
          </p:cNvPr>
          <p:cNvSpPr>
            <a:spLocks noGrp="1"/>
          </p:cNvSpPr>
          <p:nvPr/>
        </p:nvSpPr>
        <p:spPr>
          <a:xfrm>
            <a:off x="2971800" y="2590800"/>
            <a:ext cx="5715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1E06AA-BC70-4346-8652-8F8C78358A38}"/>
              </a:ext>
            </a:extLst>
          </p:cNvPr>
          <p:cNvSpPr>
            <a:spLocks noGrp="1"/>
          </p:cNvSpPr>
          <p:nvPr/>
        </p:nvSpPr>
        <p:spPr>
          <a:xfrm>
            <a:off x="3467100" y="2543175"/>
            <a:ext cx="1333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6CF9BE-C78F-4D12-A144-32D15C30802D}"/>
              </a:ext>
            </a:extLst>
          </p:cNvPr>
          <p:cNvSpPr>
            <a:spLocks noGrp="1"/>
          </p:cNvSpPr>
          <p:nvPr/>
        </p:nvSpPr>
        <p:spPr>
          <a:xfrm>
            <a:off x="6076950" y="2590800"/>
            <a:ext cx="6096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4860EE-ED7C-4B5B-BEB5-F0CC0E94669C}"/>
              </a:ext>
            </a:extLst>
          </p:cNvPr>
          <p:cNvSpPr>
            <a:spLocks noGrp="1"/>
          </p:cNvSpPr>
          <p:nvPr/>
        </p:nvSpPr>
        <p:spPr>
          <a:xfrm>
            <a:off x="6610350" y="2543175"/>
            <a:ext cx="1333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617DBE-0144-40AF-AC4A-8BCECCCF58DA}"/>
              </a:ext>
            </a:extLst>
          </p:cNvPr>
          <p:cNvSpPr>
            <a:spLocks noGrp="1"/>
          </p:cNvSpPr>
          <p:nvPr/>
        </p:nvSpPr>
        <p:spPr>
          <a:xfrm>
            <a:off x="9220200" y="2590800"/>
            <a:ext cx="51435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757036-D849-440E-AF6C-33B017FEBA26}"/>
              </a:ext>
            </a:extLst>
          </p:cNvPr>
          <p:cNvSpPr>
            <a:spLocks noGrp="1"/>
          </p:cNvSpPr>
          <p:nvPr/>
        </p:nvSpPr>
        <p:spPr>
          <a:xfrm>
            <a:off x="9658350" y="2543175"/>
            <a:ext cx="133350" cy="1333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66A4B8-8961-47CC-A82C-C7B6E92E7E49}"/>
              </a:ext>
            </a:extLst>
          </p:cNvPr>
          <p:cNvSpPr>
            <a:spLocks noGrp="1"/>
          </p:cNvSpPr>
          <p:nvPr/>
        </p:nvSpPr>
        <p:spPr>
          <a:xfrm>
            <a:off x="1524000" y="4305300"/>
            <a:ext cx="285750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7064EE-B416-483D-A7A5-70D1BC05D045}"/>
              </a:ext>
            </a:extLst>
          </p:cNvPr>
          <p:cNvSpPr>
            <a:spLocks noGrp="1"/>
          </p:cNvSpPr>
          <p:nvPr/>
        </p:nvSpPr>
        <p:spPr>
          <a:xfrm>
            <a:off x="1524000" y="4305300"/>
            <a:ext cx="47625" cy="9144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54499B-F65B-4E90-9870-C271D806A6A5}"/>
              </a:ext>
            </a:extLst>
          </p:cNvPr>
          <p:cNvSpPr>
            <a:spLocks noGrp="1"/>
          </p:cNvSpPr>
          <p:nvPr/>
        </p:nvSpPr>
        <p:spPr>
          <a:xfrm>
            <a:off x="1695450" y="44386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Render runtime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8FCBB2-E17F-41F4-BD66-7725972C54FC}"/>
              </a:ext>
            </a:extLst>
          </p:cNvPr>
          <p:cNvSpPr>
            <a:spLocks noGrp="1"/>
          </p:cNvSpPr>
          <p:nvPr/>
        </p:nvSpPr>
        <p:spPr>
          <a:xfrm>
            <a:off x="1695450" y="476250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Build: pip install -r requirements.txt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Start: gunicorn app:app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8B5696-EA6E-42EA-A35E-D91AEA329481}"/>
              </a:ext>
            </a:extLst>
          </p:cNvPr>
          <p:cNvSpPr>
            <a:spLocks noGrp="1"/>
          </p:cNvSpPr>
          <p:nvPr/>
        </p:nvSpPr>
        <p:spPr>
          <a:xfrm>
            <a:off x="4762500" y="4305300"/>
            <a:ext cx="285750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C658CE-5B0A-4578-8C94-3232F9B45781}"/>
              </a:ext>
            </a:extLst>
          </p:cNvPr>
          <p:cNvSpPr>
            <a:spLocks noGrp="1"/>
          </p:cNvSpPr>
          <p:nvPr/>
        </p:nvSpPr>
        <p:spPr>
          <a:xfrm>
            <a:off x="4762500" y="4305300"/>
            <a:ext cx="47625" cy="9144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AE6F56-19DD-4942-84BB-CE4905D2DC54}"/>
              </a:ext>
            </a:extLst>
          </p:cNvPr>
          <p:cNvSpPr>
            <a:spLocks noGrp="1"/>
          </p:cNvSpPr>
          <p:nvPr/>
        </p:nvSpPr>
        <p:spPr>
          <a:xfrm>
            <a:off x="4933950" y="44386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GitHub source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91605E-E613-4908-8616-313DA652E588}"/>
              </a:ext>
            </a:extLst>
          </p:cNvPr>
          <p:cNvSpPr>
            <a:spLocks noGrp="1"/>
          </p:cNvSpPr>
          <p:nvPr/>
        </p:nvSpPr>
        <p:spPr>
          <a:xfrm>
            <a:off x="4933950" y="476250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main branch deploy source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Supabase-only DB code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EE0221-276D-4ED7-B82E-082DAF73E122}"/>
              </a:ext>
            </a:extLst>
          </p:cNvPr>
          <p:cNvSpPr>
            <a:spLocks noGrp="1"/>
          </p:cNvSpPr>
          <p:nvPr/>
        </p:nvSpPr>
        <p:spPr>
          <a:xfrm>
            <a:off x="8001000" y="4305300"/>
            <a:ext cx="285750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DD9BAC-4126-43CF-92C1-38DBA329FF28}"/>
              </a:ext>
            </a:extLst>
          </p:cNvPr>
          <p:cNvSpPr>
            <a:spLocks noGrp="1"/>
          </p:cNvSpPr>
          <p:nvPr/>
        </p:nvSpPr>
        <p:spPr>
          <a:xfrm>
            <a:off x="8001000" y="4305300"/>
            <a:ext cx="47625" cy="9144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A8B89A-EAA1-4036-82CD-E5157F6AB3E0}"/>
              </a:ext>
            </a:extLst>
          </p:cNvPr>
          <p:cNvSpPr>
            <a:spLocks noGrp="1"/>
          </p:cNvSpPr>
          <p:nvPr/>
        </p:nvSpPr>
        <p:spPr>
          <a:xfrm>
            <a:off x="8172450" y="44386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 secrets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B8FD8D5-E8A1-47FF-952B-C446CEE208D2}"/>
              </a:ext>
            </a:extLst>
          </p:cNvPr>
          <p:cNvSpPr>
            <a:spLocks noGrp="1"/>
          </p:cNvSpPr>
          <p:nvPr/>
        </p:nvSpPr>
        <p:spPr>
          <a:xfrm>
            <a:off x="8172450" y="4762500"/>
            <a:ext cx="2533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SECRET_KEY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DEFAULT_ADMIN_PASSWORD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SYLUXENT_DATABASE_URI</a:t>
            </a:r>
          </a:p>
        </p:txBody>
      </p:sp>
    </p:spTree>
    <p:extLst>
      <p:ext uri="{BB962C8B-B14F-4D97-AF65-F5344CB8AC3E}">
        <p14:creationId xmlns:p14="http://schemas.microsoft.com/office/powerpoint/2010/main" val="141039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7F7C1E8-2509-4693-B57F-3D97B10589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3CF65E-92ED-4557-A746-B23D06C23F3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F4D57E-E3D7-4599-BE30-2467FF2F4CB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Role-based screens separate operators, managers, and administrators.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F5941-67BE-49C1-A320-7AF1CEED37FD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DD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824DB-2E52-4E02-9883-5B53F6FCC27B}"/>
              </a:ext>
            </a:extLst>
          </p:cNvPr>
          <p:cNvSpPr>
            <a:spLocks noGrp="1"/>
          </p:cNvSpPr>
          <p:nvPr/>
        </p:nvSpPr>
        <p:spPr>
          <a:xfrm>
            <a:off x="10668000" y="63055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9B4E2-6091-445E-9E1F-CC4CB5D87073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2952750" cy="2667000"/>
          </a:xfrm>
          <a:prstGeom prst="rect">
            <a:avLst/>
          </a:prstGeom>
          <a:solidFill>
            <a:srgbClr val="EAF2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765E7A-D127-404E-99DD-A0574A98BFCE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47625" cy="2667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1F7CCE-19AD-49C0-A3C8-CCF69EE21C76}"/>
              </a:ext>
            </a:extLst>
          </p:cNvPr>
          <p:cNvSpPr>
            <a:spLocks noGrp="1"/>
          </p:cNvSpPr>
          <p:nvPr/>
        </p:nvSpPr>
        <p:spPr>
          <a:xfrm>
            <a:off x="1085850" y="20002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Staff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C55DE9-19B4-45E5-BACF-F12AD30282B7}"/>
              </a:ext>
            </a:extLst>
          </p:cNvPr>
          <p:cNvSpPr>
            <a:spLocks noGrp="1"/>
          </p:cNvSpPr>
          <p:nvPr/>
        </p:nvSpPr>
        <p:spPr>
          <a:xfrm>
            <a:off x="1085850" y="2324100"/>
            <a:ext cx="2628900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Creates sales orders, manages invoice/payment workflows, enters purchase orders, and handles operational task data.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5FA6D-20F1-4437-9328-C22D1D765459}"/>
              </a:ext>
            </a:extLst>
          </p:cNvPr>
          <p:cNvSpPr>
            <a:spLocks noGrp="1"/>
          </p:cNvSpPr>
          <p:nvPr/>
        </p:nvSpPr>
        <p:spPr>
          <a:xfrm>
            <a:off x="4629150" y="1866900"/>
            <a:ext cx="2952750" cy="2667000"/>
          </a:xfrm>
          <a:prstGeom prst="rect">
            <a:avLst/>
          </a:prstGeom>
          <a:solidFill>
            <a:srgbClr val="E8F5F2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1EEF96-6FB7-4460-B4CA-CA281746FF88}"/>
              </a:ext>
            </a:extLst>
          </p:cNvPr>
          <p:cNvSpPr>
            <a:spLocks noGrp="1"/>
          </p:cNvSpPr>
          <p:nvPr/>
        </p:nvSpPr>
        <p:spPr>
          <a:xfrm>
            <a:off x="4629150" y="1866900"/>
            <a:ext cx="47625" cy="2667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2237A-80A0-4A5B-8159-1BC520DAF3F1}"/>
              </a:ext>
            </a:extLst>
          </p:cNvPr>
          <p:cNvSpPr>
            <a:spLocks noGrp="1"/>
          </p:cNvSpPr>
          <p:nvPr/>
        </p:nvSpPr>
        <p:spPr>
          <a:xfrm>
            <a:off x="4800600" y="20002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Manager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5D51B4-6898-4C31-B838-DC09C3A14C85}"/>
              </a:ext>
            </a:extLst>
          </p:cNvPr>
          <p:cNvSpPr>
            <a:spLocks noGrp="1"/>
          </p:cNvSpPr>
          <p:nvPr/>
        </p:nvSpPr>
        <p:spPr>
          <a:xfrm>
            <a:off x="4800600" y="2324100"/>
            <a:ext cx="2628900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Views dashboards, analytics, reports, performance summaries, client insights, cashflow, and sales trends.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A1DE70-C0A6-4500-B457-DD54C4526DA7}"/>
              </a:ext>
            </a:extLst>
          </p:cNvPr>
          <p:cNvSpPr>
            <a:spLocks noGrp="1"/>
          </p:cNvSpPr>
          <p:nvPr/>
        </p:nvSpPr>
        <p:spPr>
          <a:xfrm>
            <a:off x="8343900" y="1866900"/>
            <a:ext cx="2952750" cy="2667000"/>
          </a:xfrm>
          <a:prstGeom prst="rect">
            <a:avLst/>
          </a:prstGeom>
          <a:solidFill>
            <a:srgbClr val="FFF4E5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795ED2-CC77-4F9E-B9F1-0B52E0A624B8}"/>
              </a:ext>
            </a:extLst>
          </p:cNvPr>
          <p:cNvSpPr>
            <a:spLocks noGrp="1"/>
          </p:cNvSpPr>
          <p:nvPr/>
        </p:nvSpPr>
        <p:spPr>
          <a:xfrm>
            <a:off x="8343900" y="1866900"/>
            <a:ext cx="47625" cy="26670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0F8C6-308A-4C51-893C-380272A9ABBC}"/>
              </a:ext>
            </a:extLst>
          </p:cNvPr>
          <p:cNvSpPr>
            <a:spLocks noGrp="1"/>
          </p:cNvSpPr>
          <p:nvPr/>
        </p:nvSpPr>
        <p:spPr>
          <a:xfrm>
            <a:off x="8515350" y="20002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653D06-B10A-45EE-B197-FD985A118929}"/>
              </a:ext>
            </a:extLst>
          </p:cNvPr>
          <p:cNvSpPr>
            <a:spLocks noGrp="1"/>
          </p:cNvSpPr>
          <p:nvPr/>
        </p:nvSpPr>
        <p:spPr>
          <a:xfrm>
            <a:off x="8515350" y="2324100"/>
            <a:ext cx="2628900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Controls users, roles, client lists, database interface, uploads, exports, schema views, notifications, and audit logs.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0CDF79-0422-4D38-9D5E-C7B96C35BA5C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9525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Access enforcement lives in Flask route decorators and session state: user_id, username, role, and session record id.</a:t>
            </a:r>
          </a:p>
        </p:txBody>
      </p:sp>
    </p:spTree>
    <p:extLst>
      <p:ext uri="{BB962C8B-B14F-4D97-AF65-F5344CB8AC3E}">
        <p14:creationId xmlns:p14="http://schemas.microsoft.com/office/powerpoint/2010/main" val="13207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941B6DD-C22B-46CF-8D82-D2D9BA975E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8ED1F-BC84-4B1E-8A37-4503FE8F10A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5C6178-AEE8-42CE-A423-E8FB4DC489D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Core ERP records flow from clients to orders, invoices, and expenses.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ADF913-41A3-40C8-ABDF-EFB2AFC548E9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DD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72330-B4C2-4484-87E3-271B81ACE2FE}"/>
              </a:ext>
            </a:extLst>
          </p:cNvPr>
          <p:cNvSpPr>
            <a:spLocks noGrp="1"/>
          </p:cNvSpPr>
          <p:nvPr/>
        </p:nvSpPr>
        <p:spPr>
          <a:xfrm>
            <a:off x="10668000" y="63055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04751-28E0-4360-8BD5-D31E56CBB6CC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2000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D21E1-F4B3-4904-A6C0-A666C59332AC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47625" cy="952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7CF13-A935-4A38-AE00-1090DC19BF0E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A24ECF-4FE6-4325-8DED-B6E9A684DA6B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1676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Official client names, aliases, status, balances, and payment dates.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AD4A28-24A8-4A5A-8688-BB7B589C6A43}"/>
              </a:ext>
            </a:extLst>
          </p:cNvPr>
          <p:cNvSpPr>
            <a:spLocks noGrp="1"/>
          </p:cNvSpPr>
          <p:nvPr/>
        </p:nvSpPr>
        <p:spPr>
          <a:xfrm>
            <a:off x="3352800" y="2000250"/>
            <a:ext cx="2190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A505AB-D5EA-4524-A89F-5C774C00BA5D}"/>
              </a:ext>
            </a:extLst>
          </p:cNvPr>
          <p:cNvSpPr>
            <a:spLocks noGrp="1"/>
          </p:cNvSpPr>
          <p:nvPr/>
        </p:nvSpPr>
        <p:spPr>
          <a:xfrm>
            <a:off x="3352800" y="2000250"/>
            <a:ext cx="47625" cy="952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20700-DE38-4889-99AE-F0710C7E33D2}"/>
              </a:ext>
            </a:extLst>
          </p:cNvPr>
          <p:cNvSpPr>
            <a:spLocks noGrp="1"/>
          </p:cNvSpPr>
          <p:nvPr/>
        </p:nvSpPr>
        <p:spPr>
          <a:xfrm>
            <a:off x="3524250" y="2133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Sales orders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9AD209-8689-4205-9729-6AE8C18932E1}"/>
              </a:ext>
            </a:extLst>
          </p:cNvPr>
          <p:cNvSpPr>
            <a:spLocks noGrp="1"/>
          </p:cNvSpPr>
          <p:nvPr/>
        </p:nvSpPr>
        <p:spPr>
          <a:xfrm>
            <a:off x="3524250" y="2457450"/>
            <a:ext cx="1866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 headers, store/branch, terms, staff, notes, total amount.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382304-4500-4AAC-87F3-ACFDBF9D2336}"/>
              </a:ext>
            </a:extLst>
          </p:cNvPr>
          <p:cNvSpPr>
            <a:spLocks noGrp="1"/>
          </p:cNvSpPr>
          <p:nvPr/>
        </p:nvSpPr>
        <p:spPr>
          <a:xfrm>
            <a:off x="6115050" y="2000250"/>
            <a:ext cx="2190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023FA2-8212-4E22-BCE8-4009DF80BEAF}"/>
              </a:ext>
            </a:extLst>
          </p:cNvPr>
          <p:cNvSpPr>
            <a:spLocks noGrp="1"/>
          </p:cNvSpPr>
          <p:nvPr/>
        </p:nvSpPr>
        <p:spPr>
          <a:xfrm>
            <a:off x="6115050" y="2000250"/>
            <a:ext cx="47625" cy="952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F19509-64B8-40DD-BDD0-8DE9FEEE462F}"/>
              </a:ext>
            </a:extLst>
          </p:cNvPr>
          <p:cNvSpPr>
            <a:spLocks noGrp="1"/>
          </p:cNvSpPr>
          <p:nvPr/>
        </p:nvSpPr>
        <p:spPr>
          <a:xfrm>
            <a:off x="6286500" y="2133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Line items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1D87EB-C75F-4ADF-A61F-B0DABD1A465D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1866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Particulars, quantity, unit cost, selling price, total.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C4A409-1A66-46AE-8204-077DFF82BE2B}"/>
              </a:ext>
            </a:extLst>
          </p:cNvPr>
          <p:cNvSpPr>
            <a:spLocks noGrp="1"/>
          </p:cNvSpPr>
          <p:nvPr/>
        </p:nvSpPr>
        <p:spPr>
          <a:xfrm>
            <a:off x="8877300" y="2000250"/>
            <a:ext cx="2190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1D70FC-C685-4D1A-BC48-5EBE7839D940}"/>
              </a:ext>
            </a:extLst>
          </p:cNvPr>
          <p:cNvSpPr>
            <a:spLocks noGrp="1"/>
          </p:cNvSpPr>
          <p:nvPr/>
        </p:nvSpPr>
        <p:spPr>
          <a:xfrm>
            <a:off x="8877300" y="2000250"/>
            <a:ext cx="47625" cy="952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F05E8C-881B-4332-BCF2-D7F55D31F952}"/>
              </a:ext>
            </a:extLst>
          </p:cNvPr>
          <p:cNvSpPr>
            <a:spLocks noGrp="1"/>
          </p:cNvSpPr>
          <p:nvPr/>
        </p:nvSpPr>
        <p:spPr>
          <a:xfrm>
            <a:off x="9048750" y="2133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Invoices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6A0281-2690-4987-A39A-AA4E2232ABEC}"/>
              </a:ext>
            </a:extLst>
          </p:cNvPr>
          <p:cNvSpPr>
            <a:spLocks noGrp="1"/>
          </p:cNvSpPr>
          <p:nvPr/>
        </p:nvSpPr>
        <p:spPr>
          <a:xfrm>
            <a:off x="9048750" y="2457450"/>
            <a:ext cx="1866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SI/SVI records, payments, 2307 tax, balance, status.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3F689E-58C6-47DF-ACC4-537904C8F7F1}"/>
              </a:ext>
            </a:extLst>
          </p:cNvPr>
          <p:cNvSpPr>
            <a:spLocks noGrp="1"/>
          </p:cNvSpPr>
          <p:nvPr/>
        </p:nvSpPr>
        <p:spPr>
          <a:xfrm>
            <a:off x="2857500" y="2457450"/>
            <a:ext cx="4191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FE0136-7413-44E4-B951-344DFCCE7087}"/>
              </a:ext>
            </a:extLst>
          </p:cNvPr>
          <p:cNvSpPr>
            <a:spLocks noGrp="1"/>
          </p:cNvSpPr>
          <p:nvPr/>
        </p:nvSpPr>
        <p:spPr>
          <a:xfrm>
            <a:off x="3200400" y="2409825"/>
            <a:ext cx="1333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1E042A-EAF1-4C51-AC7C-1E4608063EDB}"/>
              </a:ext>
            </a:extLst>
          </p:cNvPr>
          <p:cNvSpPr>
            <a:spLocks noGrp="1"/>
          </p:cNvSpPr>
          <p:nvPr/>
        </p:nvSpPr>
        <p:spPr>
          <a:xfrm>
            <a:off x="5619750" y="2457450"/>
            <a:ext cx="4191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2C2760-C4F7-4114-A991-0B215A9FF31E}"/>
              </a:ext>
            </a:extLst>
          </p:cNvPr>
          <p:cNvSpPr>
            <a:spLocks noGrp="1"/>
          </p:cNvSpPr>
          <p:nvPr/>
        </p:nvSpPr>
        <p:spPr>
          <a:xfrm>
            <a:off x="5962650" y="2409825"/>
            <a:ext cx="1333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8F3257-A1FE-4F6A-8EEB-7752DF0D144F}"/>
              </a:ext>
            </a:extLst>
          </p:cNvPr>
          <p:cNvSpPr>
            <a:spLocks noGrp="1"/>
          </p:cNvSpPr>
          <p:nvPr/>
        </p:nvSpPr>
        <p:spPr>
          <a:xfrm>
            <a:off x="8382000" y="2457450"/>
            <a:ext cx="419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1AF264-F5F0-4E19-8E37-8C7F95DD1B2E}"/>
              </a:ext>
            </a:extLst>
          </p:cNvPr>
          <p:cNvSpPr>
            <a:spLocks noGrp="1"/>
          </p:cNvSpPr>
          <p:nvPr/>
        </p:nvSpPr>
        <p:spPr>
          <a:xfrm>
            <a:off x="8724900" y="2409825"/>
            <a:ext cx="133350" cy="1333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667D5E-3529-422C-9DA1-A3D9E937115A}"/>
              </a:ext>
            </a:extLst>
          </p:cNvPr>
          <p:cNvSpPr>
            <a:spLocks noGrp="1"/>
          </p:cNvSpPr>
          <p:nvPr/>
        </p:nvSpPr>
        <p:spPr>
          <a:xfrm>
            <a:off x="2038350" y="4171950"/>
            <a:ext cx="3429000" cy="952500"/>
          </a:xfrm>
          <a:prstGeom prst="rect">
            <a:avLst/>
          </a:prstGeom>
          <a:solidFill>
            <a:srgbClr val="FFF4E5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511C70-A5CE-4E37-ABFB-333D62BF4A8C}"/>
              </a:ext>
            </a:extLst>
          </p:cNvPr>
          <p:cNvSpPr>
            <a:spLocks noGrp="1"/>
          </p:cNvSpPr>
          <p:nvPr/>
        </p:nvSpPr>
        <p:spPr>
          <a:xfrm>
            <a:off x="2038350" y="4171950"/>
            <a:ext cx="47625" cy="952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3A92A8-6B3C-43FB-B827-C48AF46EA282}"/>
              </a:ext>
            </a:extLst>
          </p:cNvPr>
          <p:cNvSpPr>
            <a:spLocks noGrp="1"/>
          </p:cNvSpPr>
          <p:nvPr/>
        </p:nvSpPr>
        <p:spPr>
          <a:xfrm>
            <a:off x="2209800" y="43053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Purchase orders / expenses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96D6B4-948C-4FA9-B054-1058292BA395}"/>
              </a:ext>
            </a:extLst>
          </p:cNvPr>
          <p:cNvSpPr>
            <a:spLocks noGrp="1"/>
          </p:cNvSpPr>
          <p:nvPr/>
        </p:nvSpPr>
        <p:spPr>
          <a:xfrm>
            <a:off x="2209800" y="4629150"/>
            <a:ext cx="3105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Vouchers, checks, supplier/payee, particulars, cash amount, category, and net balance.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093C30-1E16-407D-8744-155CE1D8D6B5}"/>
              </a:ext>
            </a:extLst>
          </p:cNvPr>
          <p:cNvSpPr>
            <a:spLocks noGrp="1"/>
          </p:cNvSpPr>
          <p:nvPr/>
        </p:nvSpPr>
        <p:spPr>
          <a:xfrm>
            <a:off x="6743700" y="4171950"/>
            <a:ext cx="3429000" cy="952500"/>
          </a:xfrm>
          <a:prstGeom prst="rect">
            <a:avLst/>
          </a:prstGeom>
          <a:solidFill>
            <a:srgbClr val="FFF4E5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105BFF-C06F-40C2-8671-0D64893C7558}"/>
              </a:ext>
            </a:extLst>
          </p:cNvPr>
          <p:cNvSpPr>
            <a:spLocks noGrp="1"/>
          </p:cNvSpPr>
          <p:nvPr/>
        </p:nvSpPr>
        <p:spPr>
          <a:xfrm>
            <a:off x="6743700" y="4171950"/>
            <a:ext cx="47625" cy="952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ED0582B-05FC-4794-B74C-33FF8975D324}"/>
              </a:ext>
            </a:extLst>
          </p:cNvPr>
          <p:cNvSpPr>
            <a:spLocks noGrp="1"/>
          </p:cNvSpPr>
          <p:nvPr/>
        </p:nvSpPr>
        <p:spPr>
          <a:xfrm>
            <a:off x="6915150" y="43053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Debit allocations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5AD793-AB84-41DC-B21D-0B8D38A7601B}"/>
              </a:ext>
            </a:extLst>
          </p:cNvPr>
          <p:cNvSpPr>
            <a:spLocks noGrp="1"/>
          </p:cNvSpPr>
          <p:nvPr/>
        </p:nvSpPr>
        <p:spPr>
          <a:xfrm>
            <a:off x="6915150" y="4629150"/>
            <a:ext cx="3105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Multiple debit account types can be attached to an expense record.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97AFD5-5DD3-480D-A498-11ABA2ECC353}"/>
              </a:ext>
            </a:extLst>
          </p:cNvPr>
          <p:cNvSpPr>
            <a:spLocks noGrp="1"/>
          </p:cNvSpPr>
          <p:nvPr/>
        </p:nvSpPr>
        <p:spPr>
          <a:xfrm>
            <a:off x="5562600" y="4629150"/>
            <a:ext cx="1104900" cy="381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477866-CDB4-43B7-BA8B-AB66F522FFDD}"/>
              </a:ext>
            </a:extLst>
          </p:cNvPr>
          <p:cNvSpPr>
            <a:spLocks noGrp="1"/>
          </p:cNvSpPr>
          <p:nvPr/>
        </p:nvSpPr>
        <p:spPr>
          <a:xfrm>
            <a:off x="6591300" y="4581525"/>
            <a:ext cx="133350" cy="1333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363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79BE580A-A82C-4415-A358-F4D0055146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99A536-ACD2-430D-B16D-3CC23DBDDE1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A00F2-2D5F-452D-94D1-5905C080436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Analytics combines live records and historical uploads into dashboard APIs.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234513-4DD4-4ADC-A48C-EC43279C6BF1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DD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B9C74-4452-4401-B993-88FB13D3A3CC}"/>
              </a:ext>
            </a:extLst>
          </p:cNvPr>
          <p:cNvSpPr>
            <a:spLocks noGrp="1"/>
          </p:cNvSpPr>
          <p:nvPr/>
        </p:nvSpPr>
        <p:spPr>
          <a:xfrm>
            <a:off x="10668000" y="63055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F85365-FCC7-44DD-BB6C-A1544739F74B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2381250" cy="1095375"/>
          </a:xfrm>
          <a:prstGeom prst="rect">
            <a:avLst/>
          </a:prstGeom>
          <a:solidFill>
            <a:srgbClr val="EAF2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47D15-F39D-43DD-B4B6-51631343E201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47625" cy="10953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79923-A645-4482-A2F4-A6A494A4F54C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 records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2CB2CF-A0D5-414E-922A-04EA675D020B}"/>
              </a:ext>
            </a:extLst>
          </p:cNvPr>
          <p:cNvSpPr>
            <a:spLocks noGrp="1"/>
          </p:cNvSpPr>
          <p:nvPr/>
        </p:nvSpPr>
        <p:spPr>
          <a:xfrm>
            <a:off x="933450" y="2362200"/>
            <a:ext cx="205740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Sales orders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Invoices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Purchase orders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4D2531-B1E0-4CE7-975B-6508FB18C7EC}"/>
              </a:ext>
            </a:extLst>
          </p:cNvPr>
          <p:cNvSpPr>
            <a:spLocks noGrp="1"/>
          </p:cNvSpPr>
          <p:nvPr/>
        </p:nvSpPr>
        <p:spPr>
          <a:xfrm>
            <a:off x="3714750" y="1905000"/>
            <a:ext cx="2381250" cy="1095375"/>
          </a:xfrm>
          <a:prstGeom prst="rect">
            <a:avLst/>
          </a:prstGeom>
          <a:solidFill>
            <a:srgbClr val="E8F5F2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630A24-AFD5-4B17-B2B4-F491347FFF3C}"/>
              </a:ext>
            </a:extLst>
          </p:cNvPr>
          <p:cNvSpPr>
            <a:spLocks noGrp="1"/>
          </p:cNvSpPr>
          <p:nvPr/>
        </p:nvSpPr>
        <p:spPr>
          <a:xfrm>
            <a:off x="3714750" y="1905000"/>
            <a:ext cx="47625" cy="10953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4DCCE1-A860-43D8-A092-A42F713A67FD}"/>
              </a:ext>
            </a:extLst>
          </p:cNvPr>
          <p:cNvSpPr>
            <a:spLocks noGrp="1"/>
          </p:cNvSpPr>
          <p:nvPr/>
        </p:nvSpPr>
        <p:spPr>
          <a:xfrm>
            <a:off x="3886200" y="2038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Analytics ledger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E7D64A-D513-4040-8A99-ADAEFC67016E}"/>
              </a:ext>
            </a:extLst>
          </p:cNvPr>
          <p:cNvSpPr>
            <a:spLocks noGrp="1"/>
          </p:cNvSpPr>
          <p:nvPr/>
        </p:nvSpPr>
        <p:spPr>
          <a:xfrm>
            <a:off x="3886200" y="2362200"/>
            <a:ext cx="205740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analytics_data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source_type + source_id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transaction_date +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028E1-8805-4668-B232-AC31E7480C15}"/>
              </a:ext>
            </a:extLst>
          </p:cNvPr>
          <p:cNvSpPr>
            <a:spLocks noGrp="1"/>
          </p:cNvSpPr>
          <p:nvPr/>
        </p:nvSpPr>
        <p:spPr>
          <a:xfrm>
            <a:off x="6667500" y="1905000"/>
            <a:ext cx="2381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18CA95-7B2D-4485-B5D9-EFE26488D5D3}"/>
              </a:ext>
            </a:extLst>
          </p:cNvPr>
          <p:cNvSpPr>
            <a:spLocks noGrp="1"/>
          </p:cNvSpPr>
          <p:nvPr/>
        </p:nvSpPr>
        <p:spPr>
          <a:xfrm>
            <a:off x="6667500" y="1905000"/>
            <a:ext cx="47625" cy="10953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820A63-1466-458A-8850-353125744162}"/>
              </a:ext>
            </a:extLst>
          </p:cNvPr>
          <p:cNvSpPr>
            <a:spLocks noGrp="1"/>
          </p:cNvSpPr>
          <p:nvPr/>
        </p:nvSpPr>
        <p:spPr>
          <a:xfrm>
            <a:off x="6838950" y="2038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C1A816-BF95-4816-969B-5F2F4F76E431}"/>
              </a:ext>
            </a:extLst>
          </p:cNvPr>
          <p:cNvSpPr>
            <a:spLocks noGrp="1"/>
          </p:cNvSpPr>
          <p:nvPr/>
        </p:nvSpPr>
        <p:spPr>
          <a:xfrm>
            <a:off x="6838950" y="2362200"/>
            <a:ext cx="205740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analytics_services.py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KPI, forecast, client, sales,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expense, comparative logic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BBA91E-C1B3-40F7-8FD5-BC68A7C33349}"/>
              </a:ext>
            </a:extLst>
          </p:cNvPr>
          <p:cNvSpPr>
            <a:spLocks noGrp="1"/>
          </p:cNvSpPr>
          <p:nvPr/>
        </p:nvSpPr>
        <p:spPr>
          <a:xfrm>
            <a:off x="9620250" y="1905000"/>
            <a:ext cx="18097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9BAF30-9022-404B-BE07-94E2D2BC915E}"/>
              </a:ext>
            </a:extLst>
          </p:cNvPr>
          <p:cNvSpPr>
            <a:spLocks noGrp="1"/>
          </p:cNvSpPr>
          <p:nvPr/>
        </p:nvSpPr>
        <p:spPr>
          <a:xfrm>
            <a:off x="9620250" y="1905000"/>
            <a:ext cx="47625" cy="10953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C08B92-C877-4BD8-90EB-32E01BE48AB6}"/>
              </a:ext>
            </a:extLst>
          </p:cNvPr>
          <p:cNvSpPr>
            <a:spLocks noGrp="1"/>
          </p:cNvSpPr>
          <p:nvPr/>
        </p:nvSpPr>
        <p:spPr>
          <a:xfrm>
            <a:off x="9791700" y="20383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CBC881-8729-4A2A-B52B-BC0F7ECFAE97}"/>
              </a:ext>
            </a:extLst>
          </p:cNvPr>
          <p:cNvSpPr>
            <a:spLocks noGrp="1"/>
          </p:cNvSpPr>
          <p:nvPr/>
        </p:nvSpPr>
        <p:spPr>
          <a:xfrm>
            <a:off x="9791700" y="2362200"/>
            <a:ext cx="148590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Analytics page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Reports page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JSON APIs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AD0ECC-30E8-416B-91A3-BE2FA0574FBC}"/>
              </a:ext>
            </a:extLst>
          </p:cNvPr>
          <p:cNvSpPr>
            <a:spLocks noGrp="1"/>
          </p:cNvSpPr>
          <p:nvPr/>
        </p:nvSpPr>
        <p:spPr>
          <a:xfrm>
            <a:off x="3219450" y="2438400"/>
            <a:ext cx="4191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F4A8AF-0A02-4B56-B620-72DEF310B2AD}"/>
              </a:ext>
            </a:extLst>
          </p:cNvPr>
          <p:cNvSpPr>
            <a:spLocks noGrp="1"/>
          </p:cNvSpPr>
          <p:nvPr/>
        </p:nvSpPr>
        <p:spPr>
          <a:xfrm>
            <a:off x="3562350" y="2390775"/>
            <a:ext cx="1333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19E4F7-11F0-4A8F-92F8-EAA1A5763913}"/>
              </a:ext>
            </a:extLst>
          </p:cNvPr>
          <p:cNvSpPr>
            <a:spLocks noGrp="1"/>
          </p:cNvSpPr>
          <p:nvPr/>
        </p:nvSpPr>
        <p:spPr>
          <a:xfrm>
            <a:off x="6172200" y="2438400"/>
            <a:ext cx="4191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89040A-4C0D-4BCC-944B-7FF59B4BD3C5}"/>
              </a:ext>
            </a:extLst>
          </p:cNvPr>
          <p:cNvSpPr>
            <a:spLocks noGrp="1"/>
          </p:cNvSpPr>
          <p:nvPr/>
        </p:nvSpPr>
        <p:spPr>
          <a:xfrm>
            <a:off x="6515100" y="2390775"/>
            <a:ext cx="133350" cy="1333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6B1723-BF00-4491-9787-71FC0BB5B386}"/>
              </a:ext>
            </a:extLst>
          </p:cNvPr>
          <p:cNvSpPr>
            <a:spLocks noGrp="1"/>
          </p:cNvSpPr>
          <p:nvPr/>
        </p:nvSpPr>
        <p:spPr>
          <a:xfrm>
            <a:off x="9124950" y="2438400"/>
            <a:ext cx="4191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92DFDD-38E8-409E-9EE2-65194AA81CCC}"/>
              </a:ext>
            </a:extLst>
          </p:cNvPr>
          <p:cNvSpPr>
            <a:spLocks noGrp="1"/>
          </p:cNvSpPr>
          <p:nvPr/>
        </p:nvSpPr>
        <p:spPr>
          <a:xfrm>
            <a:off x="9467850" y="2390775"/>
            <a:ext cx="1333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CA2ECE-A7DA-4BDB-A68D-9DDDA6832635}"/>
              </a:ext>
            </a:extLst>
          </p:cNvPr>
          <p:cNvSpPr>
            <a:spLocks noGrp="1"/>
          </p:cNvSpPr>
          <p:nvPr/>
        </p:nvSpPr>
        <p:spPr>
          <a:xfrm>
            <a:off x="1714500" y="4286250"/>
            <a:ext cx="2571750" cy="876300"/>
          </a:xfrm>
          <a:prstGeom prst="rect">
            <a:avLst/>
          </a:prstGeom>
          <a:solidFill>
            <a:srgbClr val="EEF2F7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8ECC44-7E32-4200-976A-7BEA173C6D98}"/>
              </a:ext>
            </a:extLst>
          </p:cNvPr>
          <p:cNvSpPr>
            <a:spLocks noGrp="1"/>
          </p:cNvSpPr>
          <p:nvPr/>
        </p:nvSpPr>
        <p:spPr>
          <a:xfrm>
            <a:off x="1714500" y="4286250"/>
            <a:ext cx="47625" cy="8763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7542E6-7E1F-4E78-B42D-0F9C9F682D61}"/>
              </a:ext>
            </a:extLst>
          </p:cNvPr>
          <p:cNvSpPr>
            <a:spLocks noGrp="1"/>
          </p:cNvSpPr>
          <p:nvPr/>
        </p:nvSpPr>
        <p:spPr>
          <a:xfrm>
            <a:off x="1885950" y="4419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A00510-3BFD-43BA-A253-9FA69B7DFEF5}"/>
              </a:ext>
            </a:extLst>
          </p:cNvPr>
          <p:cNvSpPr>
            <a:spLocks noGrp="1"/>
          </p:cNvSpPr>
          <p:nvPr/>
        </p:nvSpPr>
        <p:spPr>
          <a:xfrm>
            <a:off x="1885950" y="47434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Live records can populate analytics data through the generation endpoint.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1FD7B8-8BAA-4919-AE54-EB91284609C5}"/>
              </a:ext>
            </a:extLst>
          </p:cNvPr>
          <p:cNvSpPr>
            <a:spLocks noGrp="1"/>
          </p:cNvSpPr>
          <p:nvPr/>
        </p:nvSpPr>
        <p:spPr>
          <a:xfrm>
            <a:off x="4819650" y="4286250"/>
            <a:ext cx="2571750" cy="876300"/>
          </a:xfrm>
          <a:prstGeom prst="rect">
            <a:avLst/>
          </a:prstGeom>
          <a:solidFill>
            <a:srgbClr val="EEF2F7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D185D2-1DDF-4904-B70F-695BCB10E889}"/>
              </a:ext>
            </a:extLst>
          </p:cNvPr>
          <p:cNvSpPr>
            <a:spLocks noGrp="1"/>
          </p:cNvSpPr>
          <p:nvPr/>
        </p:nvSpPr>
        <p:spPr>
          <a:xfrm>
            <a:off x="4819650" y="4286250"/>
            <a:ext cx="47625" cy="8763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5E556C-0BED-4AE5-8291-256F9792181B}"/>
              </a:ext>
            </a:extLst>
          </p:cNvPr>
          <p:cNvSpPr>
            <a:spLocks noGrp="1"/>
          </p:cNvSpPr>
          <p:nvPr/>
        </p:nvSpPr>
        <p:spPr>
          <a:xfrm>
            <a:off x="4991100" y="4419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D99C88-D14C-4AE6-84EB-09F6D06D5D81}"/>
              </a:ext>
            </a:extLst>
          </p:cNvPr>
          <p:cNvSpPr>
            <a:spLocks noGrp="1"/>
          </p:cNvSpPr>
          <p:nvPr/>
        </p:nvSpPr>
        <p:spPr>
          <a:xfrm>
            <a:off x="4991100" y="47434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Historical transaction files can extend the analytics ledger.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0103D5-FFDB-42D3-8AD7-7796300A780E}"/>
              </a:ext>
            </a:extLst>
          </p:cNvPr>
          <p:cNvSpPr>
            <a:spLocks noGrp="1"/>
          </p:cNvSpPr>
          <p:nvPr/>
        </p:nvSpPr>
        <p:spPr>
          <a:xfrm>
            <a:off x="7924800" y="4286250"/>
            <a:ext cx="2571750" cy="876300"/>
          </a:xfrm>
          <a:prstGeom prst="rect">
            <a:avLst/>
          </a:prstGeom>
          <a:solidFill>
            <a:srgbClr val="EEF2F7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750CDD-AA9B-4609-BE72-7F7AED014523}"/>
              </a:ext>
            </a:extLst>
          </p:cNvPr>
          <p:cNvSpPr>
            <a:spLocks noGrp="1"/>
          </p:cNvSpPr>
          <p:nvPr/>
        </p:nvSpPr>
        <p:spPr>
          <a:xfrm>
            <a:off x="7924800" y="4286250"/>
            <a:ext cx="47625" cy="8763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9B2F9A-48E2-4814-9BC4-310141A07AC3}"/>
              </a:ext>
            </a:extLst>
          </p:cNvPr>
          <p:cNvSpPr>
            <a:spLocks noGrp="1"/>
          </p:cNvSpPr>
          <p:nvPr/>
        </p:nvSpPr>
        <p:spPr>
          <a:xfrm>
            <a:off x="8096250" y="4419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EF6679-6312-443F-8629-5CE8FE4E8A32}"/>
              </a:ext>
            </a:extLst>
          </p:cNvPr>
          <p:cNvSpPr>
            <a:spLocks noGrp="1"/>
          </p:cNvSpPr>
          <p:nvPr/>
        </p:nvSpPr>
        <p:spPr>
          <a:xfrm>
            <a:off x="8096250" y="47434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Trend, overview, client, expense, and sales APIs power dashboard visuals.</a:t>
            </a:r>
          </a:p>
        </p:txBody>
      </p:sp>
    </p:spTree>
    <p:extLst>
      <p:ext uri="{BB962C8B-B14F-4D97-AF65-F5344CB8AC3E}">
        <p14:creationId xmlns:p14="http://schemas.microsoft.com/office/powerpoint/2010/main" val="83349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7CB4215-25ED-472B-A53E-00838856C4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249A7D-4CBF-467E-A2C6-168140CEE5A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3A59F2-0189-4806-90CB-049AB0845FF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schema groups into five practical domains.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02A9C4-6D2C-423A-9463-142CF3FB4A0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DD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3687EB-EB28-4033-BADD-F66CAD4A435B}"/>
              </a:ext>
            </a:extLst>
          </p:cNvPr>
          <p:cNvSpPr>
            <a:spLocks noGrp="1"/>
          </p:cNvSpPr>
          <p:nvPr/>
        </p:nvSpPr>
        <p:spPr>
          <a:xfrm>
            <a:off x="10668000" y="63055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5775C-515E-466C-9FF9-51ABF958B76A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3238500" cy="876300"/>
          </a:xfrm>
          <a:prstGeom prst="rect">
            <a:avLst/>
          </a:prstGeom>
          <a:solidFill>
            <a:srgbClr val="EAF2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F62831-D9EA-4D87-8FF5-C97F9CCAEAC4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47625" cy="876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C9F4C5-7720-43D4-960F-5A2362F5CB25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Authentication + audit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CBA27E-05E7-4B35-B400-144B0DF5D90F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roles, users, session_records, audit_logs, password_resets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93200-37D7-404B-9210-DB23B7F9ECE4}"/>
              </a:ext>
            </a:extLst>
          </p:cNvPr>
          <p:cNvSpPr>
            <a:spLocks noGrp="1"/>
          </p:cNvSpPr>
          <p:nvPr/>
        </p:nvSpPr>
        <p:spPr>
          <a:xfrm>
            <a:off x="4476750" y="1790700"/>
            <a:ext cx="3238500" cy="876300"/>
          </a:xfrm>
          <a:prstGeom prst="rect">
            <a:avLst/>
          </a:prstGeom>
          <a:solidFill>
            <a:srgbClr val="E8F5F2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1C298-1FB4-42A4-92CA-629407C2E51D}"/>
              </a:ext>
            </a:extLst>
          </p:cNvPr>
          <p:cNvSpPr>
            <a:spLocks noGrp="1"/>
          </p:cNvSpPr>
          <p:nvPr/>
        </p:nvSpPr>
        <p:spPr>
          <a:xfrm>
            <a:off x="4476750" y="1790700"/>
            <a:ext cx="47625" cy="8763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269506-CC49-48EF-8E3B-5D3077CC0291}"/>
              </a:ext>
            </a:extLst>
          </p:cNvPr>
          <p:cNvSpPr>
            <a:spLocks noGrp="1"/>
          </p:cNvSpPr>
          <p:nvPr/>
        </p:nvSpPr>
        <p:spPr>
          <a:xfrm>
            <a:off x="4648200" y="192405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Clients + sales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AB1269-E246-4C6B-8624-625E780E4BEE}"/>
              </a:ext>
            </a:extLst>
          </p:cNvPr>
          <p:cNvSpPr>
            <a:spLocks noGrp="1"/>
          </p:cNvSpPr>
          <p:nvPr/>
        </p:nvSpPr>
        <p:spPr>
          <a:xfrm>
            <a:off x="4648200" y="2247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clients, client_aliases, sales_orders, sales_order_items, invoices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1D8008-2829-4588-8178-D3A86A41E1AA}"/>
              </a:ext>
            </a:extLst>
          </p:cNvPr>
          <p:cNvSpPr>
            <a:spLocks noGrp="1"/>
          </p:cNvSpPr>
          <p:nvPr/>
        </p:nvSpPr>
        <p:spPr>
          <a:xfrm>
            <a:off x="8210550" y="1790700"/>
            <a:ext cx="3238500" cy="876300"/>
          </a:xfrm>
          <a:prstGeom prst="rect">
            <a:avLst/>
          </a:prstGeom>
          <a:solidFill>
            <a:srgbClr val="FFF4E5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E6CF6E-CB9B-4519-9150-2F34586118E9}"/>
              </a:ext>
            </a:extLst>
          </p:cNvPr>
          <p:cNvSpPr>
            <a:spLocks noGrp="1"/>
          </p:cNvSpPr>
          <p:nvPr/>
        </p:nvSpPr>
        <p:spPr>
          <a:xfrm>
            <a:off x="8210550" y="1790700"/>
            <a:ext cx="47625" cy="8763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FFC22-82EA-4CF7-BEA7-18D44ED2EA20}"/>
              </a:ext>
            </a:extLst>
          </p:cNvPr>
          <p:cNvSpPr>
            <a:spLocks noGrp="1"/>
          </p:cNvSpPr>
          <p:nvPr/>
        </p:nvSpPr>
        <p:spPr>
          <a:xfrm>
            <a:off x="8382000" y="192405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Purchasing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918A4A-8573-44C2-9185-1F463AD5FC13}"/>
              </a:ext>
            </a:extLst>
          </p:cNvPr>
          <p:cNvSpPr>
            <a:spLocks noGrp="1"/>
          </p:cNvSpPr>
          <p:nvPr/>
        </p:nvSpPr>
        <p:spPr>
          <a:xfrm>
            <a:off x="8382000" y="224790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purchase_orders, purchase_order_debits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F22729-40C0-408C-B39C-5C045A7BCB7A}"/>
              </a:ext>
            </a:extLst>
          </p:cNvPr>
          <p:cNvSpPr>
            <a:spLocks noGrp="1"/>
          </p:cNvSpPr>
          <p:nvPr/>
        </p:nvSpPr>
        <p:spPr>
          <a:xfrm>
            <a:off x="2362200" y="3790950"/>
            <a:ext cx="3238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5AD36D-E050-4110-A7E3-73CD3E0A509F}"/>
              </a:ext>
            </a:extLst>
          </p:cNvPr>
          <p:cNvSpPr>
            <a:spLocks noGrp="1"/>
          </p:cNvSpPr>
          <p:nvPr/>
        </p:nvSpPr>
        <p:spPr>
          <a:xfrm>
            <a:off x="2362200" y="3790950"/>
            <a:ext cx="47625" cy="8763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F87113-CC04-455C-8AAE-883FED67056D}"/>
              </a:ext>
            </a:extLst>
          </p:cNvPr>
          <p:cNvSpPr>
            <a:spLocks noGrp="1"/>
          </p:cNvSpPr>
          <p:nvPr/>
        </p:nvSpPr>
        <p:spPr>
          <a:xfrm>
            <a:off x="2533650" y="392430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Analytics ledger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098A8C-B174-44D4-B73F-F1D9E2E04E50}"/>
              </a:ext>
            </a:extLst>
          </p:cNvPr>
          <p:cNvSpPr>
            <a:spLocks noGrp="1"/>
          </p:cNvSpPr>
          <p:nvPr/>
        </p:nvSpPr>
        <p:spPr>
          <a:xfrm>
            <a:off x="2533650" y="424815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analytics_data stores source-linked financial events for analytics.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FB692B-9C05-4EE0-84EA-E106AF14967D}"/>
              </a:ext>
            </a:extLst>
          </p:cNvPr>
          <p:cNvSpPr>
            <a:spLocks noGrp="1"/>
          </p:cNvSpPr>
          <p:nvPr/>
        </p:nvSpPr>
        <p:spPr>
          <a:xfrm>
            <a:off x="6610350" y="3790950"/>
            <a:ext cx="32385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82C918-DC7D-42AC-ABC0-72EC766B633A}"/>
              </a:ext>
            </a:extLst>
          </p:cNvPr>
          <p:cNvSpPr>
            <a:spLocks noGrp="1"/>
          </p:cNvSpPr>
          <p:nvPr/>
        </p:nvSpPr>
        <p:spPr>
          <a:xfrm>
            <a:off x="6610350" y="3790950"/>
            <a:ext cx="47625" cy="8763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51E29E-F007-4F75-BEEB-9092686F5AD3}"/>
              </a:ext>
            </a:extLst>
          </p:cNvPr>
          <p:cNvSpPr>
            <a:spLocks noGrp="1"/>
          </p:cNvSpPr>
          <p:nvPr/>
        </p:nvSpPr>
        <p:spPr>
          <a:xfrm>
            <a:off x="6781800" y="3924300"/>
            <a:ext cx="2952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94B146-3605-4055-9A6D-971E9FAEEECF}"/>
              </a:ext>
            </a:extLst>
          </p:cNvPr>
          <p:cNvSpPr>
            <a:spLocks noGrp="1"/>
          </p:cNvSpPr>
          <p:nvPr/>
        </p:nvSpPr>
        <p:spPr>
          <a:xfrm>
            <a:off x="6781800" y="4248150"/>
            <a:ext cx="2914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evaluation_sessions, evaluation_questions, evaluation_responses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EBE0B9-2E23-4CC3-89CE-B839320A62DF}"/>
              </a:ext>
            </a:extLst>
          </p:cNvPr>
          <p:cNvSpPr>
            <a:spLocks noGrp="1"/>
          </p:cNvSpPr>
          <p:nvPr/>
        </p:nvSpPr>
        <p:spPr>
          <a:xfrm>
            <a:off x="1466850" y="55626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Supabase Postgres is required at runtime through SYLUXENT_DATABASE_URI; there is no local SQLite fallback in the current code.</a:t>
            </a:r>
          </a:p>
        </p:txBody>
      </p:sp>
    </p:spTree>
    <p:extLst>
      <p:ext uri="{BB962C8B-B14F-4D97-AF65-F5344CB8AC3E}">
        <p14:creationId xmlns:p14="http://schemas.microsoft.com/office/powerpoint/2010/main" val="140424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951C802-4C3C-4281-AA98-8B7C018748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F41E63-B7B2-4317-8A7C-05FCAA9096C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7ECA0-A70E-4FB8-9B17-089C7C07A7C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GitHub, Render, and Supabase form the deployed operating chain.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479692-FE36-4B90-9B77-9014330C9D4E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DD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E3C511-5C98-4D8F-8418-AEFE2AD1AF36}"/>
              </a:ext>
            </a:extLst>
          </p:cNvPr>
          <p:cNvSpPr>
            <a:spLocks noGrp="1"/>
          </p:cNvSpPr>
          <p:nvPr/>
        </p:nvSpPr>
        <p:spPr>
          <a:xfrm>
            <a:off x="10668000" y="63055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337D11-8DFC-4D95-8E3C-8F7E1787E4AB}"/>
              </a:ext>
            </a:extLst>
          </p:cNvPr>
          <p:cNvSpPr>
            <a:spLocks noGrp="1"/>
          </p:cNvSpPr>
          <p:nvPr/>
        </p:nvSpPr>
        <p:spPr>
          <a:xfrm>
            <a:off x="1047750" y="2095500"/>
            <a:ext cx="2476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E2591F-4E60-4C12-A833-898434C8C4D3}"/>
              </a:ext>
            </a:extLst>
          </p:cNvPr>
          <p:cNvSpPr>
            <a:spLocks noGrp="1"/>
          </p:cNvSpPr>
          <p:nvPr/>
        </p:nvSpPr>
        <p:spPr>
          <a:xfrm>
            <a:off x="1047750" y="2095500"/>
            <a:ext cx="47625" cy="11430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130729-C19F-430C-8481-3B4C1D80CAF4}"/>
              </a:ext>
            </a:extLst>
          </p:cNvPr>
          <p:cNvSpPr>
            <a:spLocks noGrp="1"/>
          </p:cNvSpPr>
          <p:nvPr/>
        </p:nvSpPr>
        <p:spPr>
          <a:xfrm>
            <a:off x="1219200" y="2228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BFE1A2-0B63-41D3-97AA-FA4A2BA08432}"/>
              </a:ext>
            </a:extLst>
          </p:cNvPr>
          <p:cNvSpPr>
            <a:spLocks noGrp="1"/>
          </p:cNvSpPr>
          <p:nvPr/>
        </p:nvSpPr>
        <p:spPr>
          <a:xfrm>
            <a:off x="1219200" y="2552700"/>
            <a:ext cx="2152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Ashby-Gwen/404Dashboard2.0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main branch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requirements.txt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7261FB-A70D-44A7-9392-1A4491B76BB6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0689E-0DFB-4551-A5F0-FC1E3794F1F7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47625" cy="1143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9AD979-BCAA-4066-816C-075A1FF2B836}"/>
              </a:ext>
            </a:extLst>
          </p:cNvPr>
          <p:cNvSpPr>
            <a:spLocks noGrp="1"/>
          </p:cNvSpPr>
          <p:nvPr/>
        </p:nvSpPr>
        <p:spPr>
          <a:xfrm>
            <a:off x="5029200" y="2228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28B01B-5469-4B10-82C1-A27308F675E7}"/>
              </a:ext>
            </a:extLst>
          </p:cNvPr>
          <p:cNvSpPr>
            <a:spLocks noGrp="1"/>
          </p:cNvSpPr>
          <p:nvPr/>
        </p:nvSpPr>
        <p:spPr>
          <a:xfrm>
            <a:off x="5029200" y="2552700"/>
            <a:ext cx="2152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Python web service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Build dependencies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Run Gunicorn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3498DD-4B19-484E-8D3F-C61BF16DD0D9}"/>
              </a:ext>
            </a:extLst>
          </p:cNvPr>
          <p:cNvSpPr>
            <a:spLocks noGrp="1"/>
          </p:cNvSpPr>
          <p:nvPr/>
        </p:nvSpPr>
        <p:spPr>
          <a:xfrm>
            <a:off x="8667750" y="2095500"/>
            <a:ext cx="2476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1A991F-BE59-4BAC-A283-798001FB6586}"/>
              </a:ext>
            </a:extLst>
          </p:cNvPr>
          <p:cNvSpPr>
            <a:spLocks noGrp="1"/>
          </p:cNvSpPr>
          <p:nvPr/>
        </p:nvSpPr>
        <p:spPr>
          <a:xfrm>
            <a:off x="8667750" y="2095500"/>
            <a:ext cx="47625" cy="1143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9B9CA7-D24D-4857-8D13-9A04EBB04310}"/>
              </a:ext>
            </a:extLst>
          </p:cNvPr>
          <p:cNvSpPr>
            <a:spLocks noGrp="1"/>
          </p:cNvSpPr>
          <p:nvPr/>
        </p:nvSpPr>
        <p:spPr>
          <a:xfrm>
            <a:off x="8839200" y="2228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221B7A-DCEC-4424-8BFA-CA7B52E611D7}"/>
              </a:ext>
            </a:extLst>
          </p:cNvPr>
          <p:cNvSpPr>
            <a:spLocks noGrp="1"/>
          </p:cNvSpPr>
          <p:nvPr/>
        </p:nvSpPr>
        <p:spPr>
          <a:xfrm>
            <a:off x="8839200" y="2552700"/>
            <a:ext cx="21526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Postgres project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Persistent app data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SSL connection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CC7B7F-27CF-4461-B5B5-7DD0684C45B8}"/>
              </a:ext>
            </a:extLst>
          </p:cNvPr>
          <p:cNvSpPr>
            <a:spLocks noGrp="1"/>
          </p:cNvSpPr>
          <p:nvPr/>
        </p:nvSpPr>
        <p:spPr>
          <a:xfrm>
            <a:off x="3638550" y="2647950"/>
            <a:ext cx="11430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E2F6B2-AFE3-436F-9D07-19A337653ED5}"/>
              </a:ext>
            </a:extLst>
          </p:cNvPr>
          <p:cNvSpPr>
            <a:spLocks noGrp="1"/>
          </p:cNvSpPr>
          <p:nvPr/>
        </p:nvSpPr>
        <p:spPr>
          <a:xfrm>
            <a:off x="4705350" y="2600325"/>
            <a:ext cx="13335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746680-3CC2-4076-9403-30450088BBD8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1430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3B3CFD-7ED7-4F0B-ADFD-F56380748224}"/>
              </a:ext>
            </a:extLst>
          </p:cNvPr>
          <p:cNvSpPr>
            <a:spLocks noGrp="1"/>
          </p:cNvSpPr>
          <p:nvPr/>
        </p:nvSpPr>
        <p:spPr>
          <a:xfrm>
            <a:off x="8515350" y="2600325"/>
            <a:ext cx="133350" cy="1333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29DB15-2FF5-4365-8BAD-AAD0FD368CD5}"/>
              </a:ext>
            </a:extLst>
          </p:cNvPr>
          <p:cNvSpPr>
            <a:spLocks noGrp="1"/>
          </p:cNvSpPr>
          <p:nvPr/>
        </p:nvSpPr>
        <p:spPr>
          <a:xfrm>
            <a:off x="2305050" y="4381500"/>
            <a:ext cx="238125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D0A761-8280-4A6C-8300-C789E33B1206}"/>
              </a:ext>
            </a:extLst>
          </p:cNvPr>
          <p:cNvSpPr>
            <a:spLocks noGrp="1"/>
          </p:cNvSpPr>
          <p:nvPr/>
        </p:nvSpPr>
        <p:spPr>
          <a:xfrm>
            <a:off x="2305050" y="4381500"/>
            <a:ext cx="47625" cy="9144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998255-5EDD-4973-8F96-8FD7CE88FAD3}"/>
              </a:ext>
            </a:extLst>
          </p:cNvPr>
          <p:cNvSpPr>
            <a:spLocks noGrp="1"/>
          </p:cNvSpPr>
          <p:nvPr/>
        </p:nvSpPr>
        <p:spPr>
          <a:xfrm>
            <a:off x="2476500" y="45148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command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C52C38-0D96-4D28-A337-436E3BA1045D}"/>
              </a:ext>
            </a:extLst>
          </p:cNvPr>
          <p:cNvSpPr>
            <a:spLocks noGrp="1"/>
          </p:cNvSpPr>
          <p:nvPr/>
        </p:nvSpPr>
        <p:spPr>
          <a:xfrm>
            <a:off x="2476500" y="4838700"/>
            <a:ext cx="2057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pip install -r requirements.txt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A99CD7-3C9F-4E4C-8854-7FD62A5D6EB5}"/>
              </a:ext>
            </a:extLst>
          </p:cNvPr>
          <p:cNvSpPr>
            <a:spLocks noGrp="1"/>
          </p:cNvSpPr>
          <p:nvPr/>
        </p:nvSpPr>
        <p:spPr>
          <a:xfrm>
            <a:off x="4914900" y="4381500"/>
            <a:ext cx="238125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CBDF73-8AD0-447A-A7A1-2DEA00BB008D}"/>
              </a:ext>
            </a:extLst>
          </p:cNvPr>
          <p:cNvSpPr>
            <a:spLocks noGrp="1"/>
          </p:cNvSpPr>
          <p:nvPr/>
        </p:nvSpPr>
        <p:spPr>
          <a:xfrm>
            <a:off x="4914900" y="4381500"/>
            <a:ext cx="47625" cy="9144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EBDF09-DA11-4924-B74A-BC353C79C653}"/>
              </a:ext>
            </a:extLst>
          </p:cNvPr>
          <p:cNvSpPr>
            <a:spLocks noGrp="1"/>
          </p:cNvSpPr>
          <p:nvPr/>
        </p:nvSpPr>
        <p:spPr>
          <a:xfrm>
            <a:off x="5086350" y="45148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 command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6C662A-C8C8-4D65-8921-428B3F3E7188}"/>
              </a:ext>
            </a:extLst>
          </p:cNvPr>
          <p:cNvSpPr>
            <a:spLocks noGrp="1"/>
          </p:cNvSpPr>
          <p:nvPr/>
        </p:nvSpPr>
        <p:spPr>
          <a:xfrm>
            <a:off x="5086350" y="4838700"/>
            <a:ext cx="2057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gunicorn app:app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04C33C-B104-445F-BE65-8ED372B49D9E}"/>
              </a:ext>
            </a:extLst>
          </p:cNvPr>
          <p:cNvSpPr>
            <a:spLocks noGrp="1"/>
          </p:cNvSpPr>
          <p:nvPr/>
        </p:nvSpPr>
        <p:spPr>
          <a:xfrm>
            <a:off x="7524750" y="4381500"/>
            <a:ext cx="2381250" cy="914400"/>
          </a:xfrm>
          <a:prstGeom prst="rect">
            <a:avLst/>
          </a:prstGeom>
          <a:solidFill>
            <a:srgbClr val="EEF2F7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984A78-64F3-4235-9D83-7A8D295B1DE1}"/>
              </a:ext>
            </a:extLst>
          </p:cNvPr>
          <p:cNvSpPr>
            <a:spLocks noGrp="1"/>
          </p:cNvSpPr>
          <p:nvPr/>
        </p:nvSpPr>
        <p:spPr>
          <a:xfrm>
            <a:off x="7524750" y="4381500"/>
            <a:ext cx="47625" cy="91440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36D3E2-ED12-436A-BB8D-90E61D1DA636}"/>
              </a:ext>
            </a:extLst>
          </p:cNvPr>
          <p:cNvSpPr>
            <a:spLocks noGrp="1"/>
          </p:cNvSpPr>
          <p:nvPr/>
        </p:nvSpPr>
        <p:spPr>
          <a:xfrm>
            <a:off x="7696200" y="45148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35FCB4-C7C5-447E-B454-EFE7D5C0CCAE}"/>
              </a:ext>
            </a:extLst>
          </p:cNvPr>
          <p:cNvSpPr>
            <a:spLocks noGrp="1"/>
          </p:cNvSpPr>
          <p:nvPr/>
        </p:nvSpPr>
        <p:spPr>
          <a:xfrm>
            <a:off x="7696200" y="4838700"/>
            <a:ext cx="2057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SECRET_KEY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DEFAULT_ADMIN_PASSWORD</a:t>
            </a:r>
          </a:p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SYLUXENT_DATABASE_URI</a:t>
            </a:r>
          </a:p>
        </p:txBody>
      </p:sp>
    </p:spTree>
    <p:extLst>
      <p:ext uri="{BB962C8B-B14F-4D97-AF65-F5344CB8AC3E}">
        <p14:creationId xmlns:p14="http://schemas.microsoft.com/office/powerpoint/2010/main" val="202691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1C74CDB-2C88-4E0D-AF96-548B1FFBF1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5EA63-9DD8-4598-979F-7364ECBC2F3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51F3C5-164E-4616-9F85-64214C63934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system demonstrates both operations and management controls.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21802F-EF82-4A93-B5D4-05504FB94781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DD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A2E626-13CF-4F3B-B491-3F0FB014A2B6}"/>
              </a:ext>
            </a:extLst>
          </p:cNvPr>
          <p:cNvSpPr>
            <a:spLocks noGrp="1"/>
          </p:cNvSpPr>
          <p:nvPr/>
        </p:nvSpPr>
        <p:spPr>
          <a:xfrm>
            <a:off x="10668000" y="63055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B6CCF2-6A2F-4FD4-B003-749D44D0595B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3143250" cy="933450"/>
          </a:xfrm>
          <a:prstGeom prst="rect">
            <a:avLst/>
          </a:prstGeom>
          <a:solidFill>
            <a:srgbClr val="EAF2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3E04F1-B4ED-4CDE-B0C8-0D862826BF37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47625" cy="9334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143BC8-03B9-4F33-9170-8B079C97241B}"/>
              </a:ext>
            </a:extLst>
          </p:cNvPr>
          <p:cNvSpPr>
            <a:spLocks noGrp="1"/>
          </p:cNvSpPr>
          <p:nvPr/>
        </p:nvSpPr>
        <p:spPr>
          <a:xfrm>
            <a:off x="952500" y="18288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 and mapping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88699B-BF42-47AC-B5E2-0D27855E76BE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Excel preview, auto-identification, manual correction, and commit workflows.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86816-8D12-42B6-BDBF-02B9F570CC1B}"/>
              </a:ext>
            </a:extLst>
          </p:cNvPr>
          <p:cNvSpPr>
            <a:spLocks noGrp="1"/>
          </p:cNvSpPr>
          <p:nvPr/>
        </p:nvSpPr>
        <p:spPr>
          <a:xfrm>
            <a:off x="4533900" y="1695450"/>
            <a:ext cx="3143250" cy="933450"/>
          </a:xfrm>
          <a:prstGeom prst="rect">
            <a:avLst/>
          </a:prstGeom>
          <a:solidFill>
            <a:srgbClr val="E8F5F2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38F8CC-E77A-4149-836E-376A95925F99}"/>
              </a:ext>
            </a:extLst>
          </p:cNvPr>
          <p:cNvSpPr>
            <a:spLocks noGrp="1"/>
          </p:cNvSpPr>
          <p:nvPr/>
        </p:nvSpPr>
        <p:spPr>
          <a:xfrm>
            <a:off x="4533900" y="1695450"/>
            <a:ext cx="47625" cy="933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EC1807-A33F-44F7-B980-A1E05E90F046}"/>
              </a:ext>
            </a:extLst>
          </p:cNvPr>
          <p:cNvSpPr>
            <a:spLocks noGrp="1"/>
          </p:cNvSpPr>
          <p:nvPr/>
        </p:nvSpPr>
        <p:spPr>
          <a:xfrm>
            <a:off x="4705350" y="18288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F8BB0-3021-43FA-8ADD-50DF3EDCCDE7}"/>
              </a:ext>
            </a:extLst>
          </p:cNvPr>
          <p:cNvSpPr>
            <a:spLocks noGrp="1"/>
          </p:cNvSpPr>
          <p:nvPr/>
        </p:nvSpPr>
        <p:spPr>
          <a:xfrm>
            <a:off x="4705350" y="215265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Sales, expenses, revenue, historical transactions, and audit exports.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8F1B24-806D-4750-A301-45BD7C333AD5}"/>
              </a:ext>
            </a:extLst>
          </p:cNvPr>
          <p:cNvSpPr>
            <a:spLocks noGrp="1"/>
          </p:cNvSpPr>
          <p:nvPr/>
        </p:nvSpPr>
        <p:spPr>
          <a:xfrm>
            <a:off x="8286750" y="1695450"/>
            <a:ext cx="3143250" cy="933450"/>
          </a:xfrm>
          <a:prstGeom prst="rect">
            <a:avLst/>
          </a:prstGeom>
          <a:solidFill>
            <a:srgbClr val="FFF4E5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FA9C1-2EA5-4D67-A725-F556E035F9BB}"/>
              </a:ext>
            </a:extLst>
          </p:cNvPr>
          <p:cNvSpPr>
            <a:spLocks noGrp="1"/>
          </p:cNvSpPr>
          <p:nvPr/>
        </p:nvSpPr>
        <p:spPr>
          <a:xfrm>
            <a:off x="8286750" y="1695450"/>
            <a:ext cx="47625" cy="9334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49E6DC-28A9-411B-AEF3-45A823FFE70C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controls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D6F622-9CC2-4422-8FD0-6A95F9DB5D37}"/>
              </a:ext>
            </a:extLst>
          </p:cNvPr>
          <p:cNvSpPr>
            <a:spLocks noGrp="1"/>
          </p:cNvSpPr>
          <p:nvPr/>
        </p:nvSpPr>
        <p:spPr>
          <a:xfrm>
            <a:off x="8458200" y="215265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Users, roles, client list, data grid, schema, SQL console, theme, maintenance.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AF88E2-1EA1-4FC6-B816-DD4D745391B5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3143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F9B681-E087-4A50-94E2-D5D4D537CBB9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47625" cy="9334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DF1D4F-0BAB-412C-81E7-74F7F55C047C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Client matching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45AB7C-C0FF-426F-BC23-F8ED06F61723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Normalizes uploaded names, suggests matches, supports aliases, and protects official client records.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86D3B4-C4F3-49CB-9A00-6E2536B28BD7}"/>
              </a:ext>
            </a:extLst>
          </p:cNvPr>
          <p:cNvSpPr>
            <a:spLocks noGrp="1"/>
          </p:cNvSpPr>
          <p:nvPr/>
        </p:nvSpPr>
        <p:spPr>
          <a:xfrm>
            <a:off x="4533900" y="3524250"/>
            <a:ext cx="3143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324EBC-8D7C-468E-A137-1BA8CD4E7F54}"/>
              </a:ext>
            </a:extLst>
          </p:cNvPr>
          <p:cNvSpPr>
            <a:spLocks noGrp="1"/>
          </p:cNvSpPr>
          <p:nvPr/>
        </p:nvSpPr>
        <p:spPr>
          <a:xfrm>
            <a:off x="4533900" y="3524250"/>
            <a:ext cx="47625" cy="9334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899A4C-9688-4246-BF66-DA0A200EAC87}"/>
              </a:ext>
            </a:extLst>
          </p:cNvPr>
          <p:cNvSpPr>
            <a:spLocks noGrp="1"/>
          </p:cNvSpPr>
          <p:nvPr/>
        </p:nvSpPr>
        <p:spPr>
          <a:xfrm>
            <a:off x="4705350" y="36576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Analytics and forecasting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F67E72-C7AF-4784-B3A9-4EADD201F966}"/>
              </a:ext>
            </a:extLst>
          </p:cNvPr>
          <p:cNvSpPr>
            <a:spLocks noGrp="1"/>
          </p:cNvSpPr>
          <p:nvPr/>
        </p:nvSpPr>
        <p:spPr>
          <a:xfrm>
            <a:off x="4705350" y="398145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Overview KPIs, client behavior, expense breakdown, sales analysis, recommendations.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8D4BFE-7DD9-44AD-A3BB-1387B583491D}"/>
              </a:ext>
            </a:extLst>
          </p:cNvPr>
          <p:cNvSpPr>
            <a:spLocks noGrp="1"/>
          </p:cNvSpPr>
          <p:nvPr/>
        </p:nvSpPr>
        <p:spPr>
          <a:xfrm>
            <a:off x="8286750" y="3524250"/>
            <a:ext cx="3143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4F1646-9210-482F-8B9E-CA30BE51D280}"/>
              </a:ext>
            </a:extLst>
          </p:cNvPr>
          <p:cNvSpPr>
            <a:spLocks noGrp="1"/>
          </p:cNvSpPr>
          <p:nvPr/>
        </p:nvSpPr>
        <p:spPr>
          <a:xfrm>
            <a:off x="8286750" y="3524250"/>
            <a:ext cx="47625" cy="9334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6CBE3F-8398-4E25-894B-33133662B782}"/>
              </a:ext>
            </a:extLst>
          </p:cNvPr>
          <p:cNvSpPr>
            <a:spLocks noGrp="1"/>
          </p:cNvSpPr>
          <p:nvPr/>
        </p:nvSpPr>
        <p:spPr>
          <a:xfrm>
            <a:off x="8458200" y="36576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Evaluation module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8C545D-54EB-43AB-90D3-C0AC4FA8D223}"/>
              </a:ext>
            </a:extLst>
          </p:cNvPr>
          <p:cNvSpPr>
            <a:spLocks noGrp="1"/>
          </p:cNvSpPr>
          <p:nvPr/>
        </p:nvSpPr>
        <p:spPr>
          <a:xfrm>
            <a:off x="8458200" y="3981450"/>
            <a:ext cx="2819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Stores questions, responses, scoring, interpretation, and results views.</a:t>
            </a:r>
          </a:p>
        </p:txBody>
      </p:sp>
    </p:spTree>
    <p:extLst>
      <p:ext uri="{BB962C8B-B14F-4D97-AF65-F5344CB8AC3E}">
        <p14:creationId xmlns:p14="http://schemas.microsoft.com/office/powerpoint/2010/main" val="1748899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518D592-CEA0-4C88-B72C-5FAAE17CDE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47523E-9EEC-4D99-A603-151B8161BEE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73E1B-F21A-4B15-982C-59983DB3D4A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Next checks should make cloud operation observable and safer.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232DFA-0A1F-4D0B-AAA5-2216F7A01BD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14288"/>
          </a:xfrm>
          <a:prstGeom prst="rect">
            <a:avLst/>
          </a:prstGeom>
          <a:solidFill>
            <a:srgbClr val="CDD5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FC502A-6ED1-4D00-ADA9-2F1386B3771F}"/>
              </a:ext>
            </a:extLst>
          </p:cNvPr>
          <p:cNvSpPr>
            <a:spLocks noGrp="1"/>
          </p:cNvSpPr>
          <p:nvPr/>
        </p:nvSpPr>
        <p:spPr>
          <a:xfrm>
            <a:off x="10668000" y="63055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095C7-F67A-4AB7-9FE8-52E4FA75C49E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3048000" cy="1047750"/>
          </a:xfrm>
          <a:prstGeom prst="rect">
            <a:avLst/>
          </a:prstGeom>
          <a:solidFill>
            <a:srgbClr val="EAF2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4BA3A-88E0-47B1-83CF-66DB0B49818E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47625" cy="1047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B212FF-4E19-4D49-922F-0E1BCE780580}"/>
              </a:ext>
            </a:extLst>
          </p:cNvPr>
          <p:cNvSpPr>
            <a:spLocks noGrp="1"/>
          </p:cNvSpPr>
          <p:nvPr/>
        </p:nvSpPr>
        <p:spPr>
          <a:xfrm>
            <a:off x="1085850" y="19431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Health endpoint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C41482-12D5-4465-8E16-D74931FE251A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2724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Add a public-safe /health route that reports app version, DB dialect, and DB ping without exposing secrets.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94A51D-91AB-487B-B813-B6B721BD4FCC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3048000" cy="1047750"/>
          </a:xfrm>
          <a:prstGeom prst="rect">
            <a:avLst/>
          </a:prstGeom>
          <a:solidFill>
            <a:srgbClr val="E8F5F2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BEB88B-2FB1-488D-8716-64CDFE4C5D44}"/>
              </a:ext>
            </a:extLst>
          </p:cNvPr>
          <p:cNvSpPr>
            <a:spLocks noGrp="1"/>
          </p:cNvSpPr>
          <p:nvPr/>
        </p:nvSpPr>
        <p:spPr>
          <a:xfrm>
            <a:off x="4572000" y="1809750"/>
            <a:ext cx="47625" cy="1047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CDDE4-E578-4824-97C9-91F67F3E6BD4}"/>
              </a:ext>
            </a:extLst>
          </p:cNvPr>
          <p:cNvSpPr>
            <a:spLocks noGrp="1"/>
          </p:cNvSpPr>
          <p:nvPr/>
        </p:nvSpPr>
        <p:spPr>
          <a:xfrm>
            <a:off x="4743450" y="19431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Deploy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FA4583-BDB1-4E58-90AD-8820A23B6DDC}"/>
              </a:ext>
            </a:extLst>
          </p:cNvPr>
          <p:cNvSpPr>
            <a:spLocks noGrp="1"/>
          </p:cNvSpPr>
          <p:nvPr/>
        </p:nvSpPr>
        <p:spPr>
          <a:xfrm>
            <a:off x="4743450" y="2266950"/>
            <a:ext cx="2724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Check Render logs and deployed commit after each push to main.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8DED30-C2D4-45D2-953F-9A3CBD4178FD}"/>
              </a:ext>
            </a:extLst>
          </p:cNvPr>
          <p:cNvSpPr>
            <a:spLocks noGrp="1"/>
          </p:cNvSpPr>
          <p:nvPr/>
        </p:nvSpPr>
        <p:spPr>
          <a:xfrm>
            <a:off x="8229600" y="1809750"/>
            <a:ext cx="3048000" cy="1047750"/>
          </a:xfrm>
          <a:prstGeom prst="rect">
            <a:avLst/>
          </a:prstGeom>
          <a:solidFill>
            <a:srgbClr val="FFF4E5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406016-DCEE-44A1-88C8-BAB8A8399B29}"/>
              </a:ext>
            </a:extLst>
          </p:cNvPr>
          <p:cNvSpPr>
            <a:spLocks noGrp="1"/>
          </p:cNvSpPr>
          <p:nvPr/>
        </p:nvSpPr>
        <p:spPr>
          <a:xfrm>
            <a:off x="8229600" y="1809750"/>
            <a:ext cx="47625" cy="10477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4925DF-6E4F-461A-A865-4B0E1A9C8FA2}"/>
              </a:ext>
            </a:extLst>
          </p:cNvPr>
          <p:cNvSpPr>
            <a:spLocks noGrp="1"/>
          </p:cNvSpPr>
          <p:nvPr/>
        </p:nvSpPr>
        <p:spPr>
          <a:xfrm>
            <a:off x="8401050" y="19431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Backups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905CF3-9CCA-4B6F-97A2-56802E00D2B0}"/>
              </a:ext>
            </a:extLst>
          </p:cNvPr>
          <p:cNvSpPr>
            <a:spLocks noGrp="1"/>
          </p:cNvSpPr>
          <p:nvPr/>
        </p:nvSpPr>
        <p:spPr>
          <a:xfrm>
            <a:off x="8401050" y="2266950"/>
            <a:ext cx="2724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Define Supabase backup and restore procedure before production data collection.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A2E3F6-D903-4710-A5C6-5B97B973C715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0480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879014-6107-4A88-880E-3E827CC23CB1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47625" cy="1047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673706-42AA-4804-8F81-019DE492910B}"/>
              </a:ext>
            </a:extLst>
          </p:cNvPr>
          <p:cNvSpPr>
            <a:spLocks noGrp="1"/>
          </p:cNvSpPr>
          <p:nvPr/>
        </p:nvSpPr>
        <p:spPr>
          <a:xfrm>
            <a:off x="1085850" y="38481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Migrations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07BAFC-9D45-4488-9242-A3AB0F045975}"/>
              </a:ext>
            </a:extLst>
          </p:cNvPr>
          <p:cNvSpPr>
            <a:spLocks noGrp="1"/>
          </p:cNvSpPr>
          <p:nvPr/>
        </p:nvSpPr>
        <p:spPr>
          <a:xfrm>
            <a:off x="1085850" y="4171950"/>
            <a:ext cx="2724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Introduce schema migrations before changing live tables after data exists.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FBF7EC-666F-41A7-A546-1DC8F3B104EC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30480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0495F5-7D06-4D11-8009-DB9C8C18E029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47625" cy="1047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BC42D6-3F61-4FFB-957A-5F2D7505F862}"/>
              </a:ext>
            </a:extLst>
          </p:cNvPr>
          <p:cNvSpPr>
            <a:spLocks noGrp="1"/>
          </p:cNvSpPr>
          <p:nvPr/>
        </p:nvSpPr>
        <p:spPr>
          <a:xfrm>
            <a:off x="4743450" y="38481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E7AB1A-B943-46E2-9F83-FD47BE1763F1}"/>
              </a:ext>
            </a:extLst>
          </p:cNvPr>
          <p:cNvSpPr>
            <a:spLocks noGrp="1"/>
          </p:cNvSpPr>
          <p:nvPr/>
        </p:nvSpPr>
        <p:spPr>
          <a:xfrm>
            <a:off x="4743450" y="4171950"/>
            <a:ext cx="2724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Add structured logging around upload, analytics, and report generation failures.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254053-08D3-478D-B7DD-34A416988703}"/>
              </a:ext>
            </a:extLst>
          </p:cNvPr>
          <p:cNvSpPr>
            <a:spLocks noGrp="1"/>
          </p:cNvSpPr>
          <p:nvPr/>
        </p:nvSpPr>
        <p:spPr>
          <a:xfrm>
            <a:off x="8229600" y="3714750"/>
            <a:ext cx="30480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5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0EB686-4A97-40B2-9237-5BA71962CB89}"/>
              </a:ext>
            </a:extLst>
          </p:cNvPr>
          <p:cNvSpPr>
            <a:spLocks noGrp="1"/>
          </p:cNvSpPr>
          <p:nvPr/>
        </p:nvSpPr>
        <p:spPr>
          <a:xfrm>
            <a:off x="8229600" y="3714750"/>
            <a:ext cx="47625" cy="1047750"/>
          </a:xfrm>
          <a:prstGeom prst="rect">
            <a:avLst/>
          </a:prstGeom>
          <a:solidFill>
            <a:srgbClr val="0B25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E75E5E-73F7-419E-8D7A-6ADEF34D2A79}"/>
              </a:ext>
            </a:extLst>
          </p:cNvPr>
          <p:cNvSpPr>
            <a:spLocks noGrp="1"/>
          </p:cNvSpPr>
          <p:nvPr/>
        </p:nvSpPr>
        <p:spPr>
          <a:xfrm>
            <a:off x="8401050" y="38481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Storage roadmap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C5436C-0ED5-411D-8117-4392A6232722}"/>
              </a:ext>
            </a:extLst>
          </p:cNvPr>
          <p:cNvSpPr>
            <a:spLocks noGrp="1"/>
          </p:cNvSpPr>
          <p:nvPr/>
        </p:nvSpPr>
        <p:spPr>
          <a:xfrm>
            <a:off x="8401050" y="4171950"/>
            <a:ext cx="2724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Move profile photos to cloud object storage if persistent media becomes required.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F8587A-8B41-4A2B-8771-6364B7FC75C0}"/>
              </a:ext>
            </a:extLst>
          </p:cNvPr>
          <p:cNvSpPr>
            <a:spLocks noGrp="1"/>
          </p:cNvSpPr>
          <p:nvPr/>
        </p:nvSpPr>
        <p:spPr>
          <a:xfrm>
            <a:off x="1714500" y="5810250"/>
            <a:ext cx="876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current system is deployable and cloud-backed; these checks improve operations after the capstone baseline.</a:t>
            </a:r>
          </a:p>
        </p:txBody>
      </p:sp>
    </p:spTree>
    <p:extLst>
      <p:ext uri="{BB962C8B-B14F-4D97-AF65-F5344CB8AC3E}">
        <p14:creationId xmlns:p14="http://schemas.microsoft.com/office/powerpoint/2010/main" val="6543873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Microsoft Office PowerPoint</Application>
  <DocSecurity>0</DocSecurity>
  <PresentationFormat>Widescreen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ASHBY GWEN B. RUELO</cp:lastModifiedBy>
  <cp:revision>1</cp:revision>
  <dcterms:created xsi:type="dcterms:W3CDTF">2026-06-14T11:58:07Z</dcterms:created>
  <dcterms:modified xsi:type="dcterms:W3CDTF">2026-06-14T12:05:45Z</dcterms:modified>
</cp:coreProperties>
</file>